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4"/>
  </p:sldMasterIdLst>
  <p:notesMasterIdLst>
    <p:notesMasterId r:id="rId19"/>
  </p:notesMasterIdLst>
  <p:sldIdLst>
    <p:sldId id="278" r:id="rId5"/>
    <p:sldId id="279" r:id="rId6"/>
    <p:sldId id="284" r:id="rId7"/>
    <p:sldId id="280" r:id="rId8"/>
    <p:sldId id="281" r:id="rId9"/>
    <p:sldId id="282" r:id="rId10"/>
    <p:sldId id="283" r:id="rId11"/>
    <p:sldId id="285" r:id="rId12"/>
    <p:sldId id="286" r:id="rId13"/>
    <p:sldId id="287" r:id="rId14"/>
    <p:sldId id="289" r:id="rId15"/>
    <p:sldId id="290" r:id="rId16"/>
    <p:sldId id="291" r:id="rId17"/>
    <p:sldId id="292" r:id="rId1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F0424F06-A07E-46DE-9D2E-2C7522B3CE79}">
          <p14:sldIdLst>
            <p14:sldId id="278"/>
            <p14:sldId id="279"/>
          </p14:sldIdLst>
        </p14:section>
        <p14:section name="Historical Background" id="{A7027D08-F243-4225-A04C-72E1C08F76EC}">
          <p14:sldIdLst>
            <p14:sldId id="284"/>
            <p14:sldId id="280"/>
            <p14:sldId id="281"/>
            <p14:sldId id="282"/>
          </p14:sldIdLst>
        </p14:section>
        <p14:section name="Program Structure" id="{A462004D-8876-4507-9076-ABCD9BA00CF2}">
          <p14:sldIdLst>
            <p14:sldId id="283"/>
            <p14:sldId id="285"/>
            <p14:sldId id="286"/>
            <p14:sldId id="287"/>
            <p14:sldId id="289"/>
            <p14:sldId id="290"/>
            <p14:sldId id="291"/>
          </p14:sldIdLst>
        </p14:section>
        <p14:section name="Syntax Section" id="{7135EA50-8AD3-4853-AB3F-50E914C89B00}">
          <p14:sldIdLst>
            <p14:sldId id="29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19" autoAdjust="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3" Type="http://schemas.openxmlformats.org/officeDocument/2006/relationships/customXml" Target="../customXml/item3.xml"/><Relationship Id="rId21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presProps" Target="pres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FD01546-198A-4195-BCF8-F0FF54C90E5E}" type="datetimeFigureOut">
              <a:rPr lang="en-US" smtClean="0"/>
              <a:t>12/3/2025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6DE88F-1F85-4A27-9D34-D74A50E7B0DA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3009185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3AEA074-24A7-4657-AE02-A51F68EA6AA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5784755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370693" y="1769540"/>
            <a:ext cx="9440034" cy="1828801"/>
          </a:xfr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0693" y="3773489"/>
            <a:ext cx="9440034" cy="1049867"/>
          </a:xfrm>
        </p:spPr>
        <p:txBody>
          <a:bodyPr anchor="t"/>
          <a:lstStyle>
            <a:lvl1pPr marL="0" indent="0" algn="ctr">
              <a:buNone/>
              <a:defRPr>
                <a:solidFill>
                  <a:schemeClr val="tx1"/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D38747-4367-4BD2-8D51-C97E202738E2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07467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3C55A3C-5767-4844-A0A3-83778C2E5409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548654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95401" y="1761067"/>
            <a:ext cx="9590550" cy="1828813"/>
          </a:xfrm>
        </p:spPr>
        <p:txBody>
          <a:bodyPr anchor="b"/>
          <a:lstStyle>
            <a:lvl1pPr algn="ctr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95401" y="3763439"/>
            <a:ext cx="9590550" cy="1333494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/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E507A8-A5CF-4D38-AB86-7EDDA87A85D4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46401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6187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13795" y="2076450"/>
            <a:ext cx="4856841" cy="3622671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10716" y="2076451"/>
            <a:ext cx="4856841" cy="3622672"/>
          </a:xfrm>
        </p:spPr>
        <p:txBody>
          <a:bodyPr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DFCD27C-8599-43EF-BA1D-14DDC1946E06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82058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" name="Picture 19" descr="Slate-V2-HD-compPhotoInset.png">
            <a:extLst>
              <a:ext uri="{FF2B5EF4-FFF2-40B4-BE49-F238E27FC236}">
                <a16:creationId xmlns:a16="http://schemas.microsoft.com/office/drawing/2014/main" id="{37B721FF-D609-4D98-9D19-CF75AA8A54F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3795" y="1734506"/>
            <a:ext cx="5029200" cy="4099959"/>
          </a:xfrm>
          <a:prstGeom prst="rect">
            <a:avLst/>
          </a:prstGeom>
        </p:spPr>
      </p:pic>
      <p:pic>
        <p:nvPicPr>
          <p:cNvPr id="21" name="Picture 20" descr="Slate-V2-HD-compPhotoInset.png">
            <a:extLst>
              <a:ext uri="{FF2B5EF4-FFF2-40B4-BE49-F238E27FC236}">
                <a16:creationId xmlns:a16="http://schemas.microsoft.com/office/drawing/2014/main" id="{073936BD-C868-433F-8E84-D6DD8E640E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357" y="1734506"/>
            <a:ext cx="5029200" cy="4099959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46013" y="1855153"/>
            <a:ext cx="4764764" cy="692494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46013" y="2702103"/>
            <a:ext cx="4764764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63166" y="1855152"/>
            <a:ext cx="4779582" cy="692495"/>
          </a:xfrm>
        </p:spPr>
        <p:txBody>
          <a:bodyPr anchor="b">
            <a:noAutofit/>
          </a:bodyPr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363167" y="2702103"/>
            <a:ext cx="4779581" cy="3043533"/>
          </a:xfrm>
        </p:spPr>
        <p:txBody>
          <a:bodyPr anchor="t"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343D99-809A-49C0-96E5-4250D0B498EE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351203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43DE9B-B678-4EFB-BB7D-A4370204A0B0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9094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8812DA-F765-4142-A6A3-A8ED7235E082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551302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3706889" cy="1821918"/>
          </a:xfrm>
        </p:spPr>
        <p:txBody>
          <a:bodyPr anchor="b">
            <a:normAutofit/>
          </a:bodyPr>
          <a:lstStyle>
            <a:lvl1pPr algn="ctr">
              <a:defRPr sz="2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55633" y="609600"/>
            <a:ext cx="6411924" cy="5080001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2673351"/>
            <a:ext cx="3706889" cy="301625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0277FD-7DE6-41D4-930D-AC99F5AFE54E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35569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Picture 21" descr="Slate-V2-HD-vertPhotoInset.png">
            <a:extLst>
              <a:ext uri="{FF2B5EF4-FFF2-40B4-BE49-F238E27FC236}">
                <a16:creationId xmlns:a16="http://schemas.microsoft.com/office/drawing/2014/main" id="{4D06E496-ACBA-4063-B4A1-C5C484EE5A7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93665" y="609600"/>
            <a:ext cx="3584166" cy="520483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763701"/>
            <a:ext cx="5707899" cy="1675559"/>
          </a:xfrm>
        </p:spPr>
        <p:txBody>
          <a:bodyPr anchor="b">
            <a:noAutofit/>
          </a:bodyPr>
          <a:lstStyle>
            <a:lvl1pPr algn="ctr">
              <a:defRPr sz="32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42551" y="763702"/>
            <a:ext cx="3275751" cy="4912822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473698" y="2679699"/>
            <a:ext cx="4588094" cy="3135695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A15526-7079-4B7B-987C-1B5FAE11A0FF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l"/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305678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Slate-V2-HD-panoPhotoInset.png">
            <a:extLst>
              <a:ext uri="{FF2B5EF4-FFF2-40B4-BE49-F238E27FC236}">
                <a16:creationId xmlns:a16="http://schemas.microsoft.com/office/drawing/2014/main" id="{CE39118B-B3AD-4BD4-BA22-DEFF4E76CE9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806" y="4565255"/>
            <a:ext cx="10355326" cy="543472"/>
          </a:xfrm>
        </p:spPr>
        <p:txBody>
          <a:bodyPr anchor="b">
            <a:normAutofit/>
          </a:bodyPr>
          <a:lstStyle>
            <a:lvl1pPr algn="ctr">
              <a:defRPr sz="2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69349" y="695009"/>
            <a:ext cx="9845346" cy="3525671"/>
          </a:xfr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5" y="5247728"/>
            <a:ext cx="10353762" cy="543472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F1B079-7EF0-44EE-B798-BCC497C9F3B2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95022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5" y="608437"/>
            <a:ext cx="10353762" cy="3534344"/>
          </a:xfrm>
        </p:spPr>
        <p:txBody>
          <a:bodyPr anchor="ctr">
            <a:normAutofit/>
          </a:bodyPr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295180"/>
            <a:ext cx="10353763" cy="1501826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8FF70A8-1D13-4657-95F0-A9EA54967B8D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53850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32749"/>
          </a:xfrm>
        </p:spPr>
        <p:txBody>
          <a:bodyPr anchor="t">
            <a:normAutofit/>
          </a:bodyPr>
          <a:lstStyle>
            <a:lvl1pPr marL="0" indent="0" algn="r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4304353"/>
            <a:ext cx="10353763" cy="1489496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EB90AC-71BD-4C7F-8ACA-7B3F18292E63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23F0D53-0705-41B7-8554-09D21E7807F9}"/>
              </a:ext>
            </a:extLst>
          </p:cNvPr>
          <p:cNvSpPr txBox="1"/>
          <p:nvPr/>
        </p:nvSpPr>
        <p:spPr>
          <a:xfrm>
            <a:off x="990600" y="88479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7F647CD-0F1A-4BB3-89E0-A74F1E1B098D}"/>
              </a:ext>
            </a:extLst>
          </p:cNvPr>
          <p:cNvSpPr txBox="1"/>
          <p:nvPr/>
        </p:nvSpPr>
        <p:spPr>
          <a:xfrm>
            <a:off x="10504716" y="292825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7752911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2126942"/>
            <a:ext cx="10353763" cy="2511835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84" y="4650556"/>
            <a:ext cx="10352199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6EFC2C-8905-46F0-B443-CE905B76BA01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4509250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95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9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6711" y="1885949"/>
            <a:ext cx="3300984" cy="764783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435" y="2768112"/>
            <a:ext cx="3300984" cy="302308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572" y="1885950"/>
            <a:ext cx="3300984" cy="764782"/>
          </a:xfrm>
        </p:spPr>
        <p:txBody>
          <a:bodyPr anchor="b">
            <a:noAutofit/>
          </a:bodyPr>
          <a:lstStyle>
            <a:lvl1pPr marL="0" indent="0" algn="ctr"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66572" y="2768110"/>
            <a:ext cx="3300984" cy="302308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079DC3-C9B5-499E-9140-0DC28B7074E2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26478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ate-V2-HD-3colPhotoInset.png">
            <a:extLst>
              <a:ext uri="{FF2B5EF4-FFF2-40B4-BE49-F238E27FC236}">
                <a16:creationId xmlns:a16="http://schemas.microsoft.com/office/drawing/2014/main" id="{7E87C569-D426-4615-ADA7-B370EA98340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97962" y="1818214"/>
            <a:ext cx="3339972" cy="1847851"/>
          </a:xfrm>
          <a:prstGeom prst="rect">
            <a:avLst/>
          </a:prstGeom>
        </p:spPr>
      </p:pic>
      <p:pic>
        <p:nvPicPr>
          <p:cNvPr id="36" name="Picture 35" descr="Slate-V2-HD-3colPhotoInset.png">
            <a:extLst>
              <a:ext uri="{FF2B5EF4-FFF2-40B4-BE49-F238E27FC236}">
                <a16:creationId xmlns:a16="http://schemas.microsoft.com/office/drawing/2014/main" id="{7B353ED4-7AD0-46C9-88ED-1A16B1433A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03800" y="1818214"/>
            <a:ext cx="3339972" cy="1847851"/>
          </a:xfrm>
          <a:prstGeom prst="rect">
            <a:avLst/>
          </a:prstGeom>
        </p:spPr>
      </p:pic>
      <p:pic>
        <p:nvPicPr>
          <p:cNvPr id="37" name="Picture 36" descr="Slate-V2-HD-3colPhotoInset.png">
            <a:extLst>
              <a:ext uri="{FF2B5EF4-FFF2-40B4-BE49-F238E27FC236}">
                <a16:creationId xmlns:a16="http://schemas.microsoft.com/office/drawing/2014/main" id="{F561D985-AD57-459A-B3A6-EBF29603976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36051" y="1818214"/>
            <a:ext cx="3339972" cy="1847851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94" y="609600"/>
            <a:ext cx="10353763" cy="9704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95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018102" y="1938918"/>
            <a:ext cx="3092368" cy="160295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95" y="4572443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88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545743" y="1939094"/>
            <a:ext cx="3092368" cy="160816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435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66697" y="3904106"/>
            <a:ext cx="3300984" cy="5762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075698" y="1934432"/>
            <a:ext cx="3092368" cy="1607294"/>
          </a:xfrm>
          <a:prstGeom prst="roundRect">
            <a:avLst>
              <a:gd name="adj" fmla="val 1858"/>
            </a:avLst>
          </a:prstGeom>
          <a:effectLst>
            <a:outerShdw blurRad="38100" dist="25400" dir="4440000">
              <a:srgbClr val="000000">
                <a:alpha val="36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66572" y="4572442"/>
            <a:ext cx="3300984" cy="121875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BB33EA-E472-4D22-9C03-A9C14AA21CED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25466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6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95" y="609600"/>
            <a:ext cx="10353762" cy="1257300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95" y="2076450"/>
            <a:ext cx="10353762" cy="3714749"/>
          </a:xfrm>
          <a:prstGeom prst="rect">
            <a:avLst/>
          </a:prstGeom>
          <a:effectLst>
            <a:outerShdw blurRad="25400" dir="17880000">
              <a:srgbClr val="000000">
                <a:alpha val="46000"/>
              </a:srgbClr>
            </a:outerShdw>
          </a:effectLst>
        </p:spPr>
        <p:txBody>
          <a:bodyPr vert="horz" lIns="91440" tIns="45720" rIns="91440" bIns="45720" rtlCol="0" anchor="t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6" y="6000749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073ED0CC-082F-4160-86E5-0D6041F12778}" type="datetime1">
              <a:rPr lang="en-US" smtClean="0"/>
              <a:t>12/3/2025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95" y="6000749"/>
            <a:ext cx="667286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6000749"/>
            <a:ext cx="75354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lumMod val="95000"/>
                  </a:schemeClr>
                </a:solidFill>
                <a:effectLst>
                  <a:outerShdw blurRad="50800" dist="38100" dir="2700000" algn="tl" rotWithShape="0">
                    <a:schemeClr val="bg1">
                      <a:alpha val="43000"/>
                    </a:schemeClr>
                  </a:outerShdw>
                </a:effectLst>
              </a:defRPr>
            </a:lvl1pPr>
          </a:lstStyle>
          <a:p>
            <a:fld id="{3A98EE3D-8CD1-4C3F-BD1C-C98C9596463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8978357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</p:sldLayoutIdLst>
  <p:hf sldNum="0" hdr="0" ftr="0" dt="0"/>
  <p:txStyles>
    <p:titleStyle>
      <a:lvl1pPr algn="ctr" defTabSz="457200" rtl="0" eaLnBrk="1" latinLnBrk="0" hangingPunct="1">
        <a:lnSpc>
          <a:spcPct val="90000"/>
        </a:lnSpc>
        <a:spcBef>
          <a:spcPct val="0"/>
        </a:spcBef>
        <a:buNone/>
        <a:defRPr sz="4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j-lt"/>
          <a:ea typeface="+mj-ea"/>
          <a:cs typeface="Trebuchet M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06000" algn="l" defTabSz="457200" rtl="0" eaLnBrk="1" latinLnBrk="0" hangingPunct="1">
        <a:lnSpc>
          <a:spcPct val="110000"/>
        </a:lnSpc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23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1pPr>
      <a:lvl2pPr marL="720000" indent="-270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21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2pPr>
      <a:lvl3pPr marL="102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8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3pPr>
      <a:lvl4pPr marL="1386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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4pPr>
      <a:lvl5pPr marL="1674000" indent="-2160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6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5pPr>
      <a:lvl6pPr marL="20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6pPr>
      <a:lvl7pPr marL="240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7pPr>
      <a:lvl8pPr marL="278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8pPr>
      <a:lvl9pPr marL="310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2"/>
        </a:buClr>
        <a:buSzPct val="70000"/>
        <a:buFont typeface="Wingdings 2" charset="2"/>
        <a:buChar char=""/>
        <a:defRPr sz="1400" kern="1200">
          <a:ln>
            <a:solidFill>
              <a:schemeClr val="bg1">
                <a:lumMod val="75000"/>
                <a:lumOff val="25000"/>
                <a:alpha val="10000"/>
              </a:schemeClr>
            </a:solidFill>
          </a:ln>
          <a:solidFill>
            <a:schemeClr val="tx2"/>
          </a:solidFill>
          <a:effectLst>
            <a:outerShdw blurRad="9525" dist="25400" dir="14640000" algn="tl" rotWithShape="0">
              <a:schemeClr val="bg1">
                <a:alpha val="30000"/>
              </a:schemeClr>
            </a:outerShdw>
          </a:effectLst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1.xml"/><Relationship Id="rId4" Type="http://schemas.openxmlformats.org/officeDocument/2006/relationships/image" Target="../media/image6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2.xml"/><Relationship Id="rId1" Type="http://schemas.openxmlformats.org/officeDocument/2006/relationships/themeOverride" Target="../theme/themeOverride2.xml"/><Relationship Id="rId6" Type="http://schemas.openxmlformats.org/officeDocument/2006/relationships/image" Target="../media/image8.png"/><Relationship Id="rId5" Type="http://schemas.openxmlformats.org/officeDocument/2006/relationships/image" Target="../media/image7.jpeg"/><Relationship Id="rId4" Type="http://schemas.openxmlformats.org/officeDocument/2006/relationships/image" Target="../media/image1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1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sv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4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3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F8A1C807-B9AD-4C9B-BF9F-60F03428998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-1" y="10"/>
            <a:ext cx="12192001" cy="6857990"/>
          </a:xfrm>
          <a:prstGeom prst="rect">
            <a:avLst/>
          </a:prstGeom>
        </p:spPr>
      </p:pic>
      <p:sp useBgFill="1">
        <p:nvSpPr>
          <p:cNvPr id="103" name="Freeform 5">
            <a:extLst>
              <a:ext uri="{FF2B5EF4-FFF2-40B4-BE49-F238E27FC236}">
                <a16:creationId xmlns:a16="http://schemas.microsoft.com/office/drawing/2014/main" id="{FE469E50-3893-4ED6-92BA-2985C32B0CA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auto">
          <a:xfrm rot="5400000">
            <a:off x="7131809" y="1385982"/>
            <a:ext cx="4031414" cy="4100418"/>
          </a:xfrm>
          <a:custGeom>
            <a:avLst/>
            <a:gdLst>
              <a:gd name="T0" fmla="*/ 1577 w 1601"/>
              <a:gd name="T1" fmla="*/ 0 h 696"/>
              <a:gd name="T2" fmla="*/ 833 w 1601"/>
              <a:gd name="T3" fmla="*/ 0 h 696"/>
              <a:gd name="T4" fmla="*/ 768 w 1601"/>
              <a:gd name="T5" fmla="*/ 0 h 696"/>
              <a:gd name="T6" fmla="*/ 24 w 1601"/>
              <a:gd name="T7" fmla="*/ 0 h 696"/>
              <a:gd name="T8" fmla="*/ 0 w 1601"/>
              <a:gd name="T9" fmla="*/ 27 h 696"/>
              <a:gd name="T10" fmla="*/ 0 w 1601"/>
              <a:gd name="T11" fmla="*/ 669 h 696"/>
              <a:gd name="T12" fmla="*/ 24 w 1601"/>
              <a:gd name="T13" fmla="*/ 696 h 696"/>
              <a:gd name="T14" fmla="*/ 768 w 1601"/>
              <a:gd name="T15" fmla="*/ 696 h 696"/>
              <a:gd name="T16" fmla="*/ 833 w 1601"/>
              <a:gd name="T17" fmla="*/ 696 h 696"/>
              <a:gd name="T18" fmla="*/ 1577 w 1601"/>
              <a:gd name="T19" fmla="*/ 696 h 696"/>
              <a:gd name="T20" fmla="*/ 1601 w 1601"/>
              <a:gd name="T21" fmla="*/ 669 h 696"/>
              <a:gd name="T22" fmla="*/ 1601 w 1601"/>
              <a:gd name="T23" fmla="*/ 27 h 696"/>
              <a:gd name="T24" fmla="*/ 1577 w 1601"/>
              <a:gd name="T25" fmla="*/ 0 h 696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</a:cxnLst>
            <a:rect l="0" t="0" r="r" b="b"/>
            <a:pathLst>
              <a:path w="1601" h="696">
                <a:moveTo>
                  <a:pt x="1577" y="0"/>
                </a:moveTo>
                <a:cubicBezTo>
                  <a:pt x="833" y="0"/>
                  <a:pt x="833" y="0"/>
                  <a:pt x="833" y="0"/>
                </a:cubicBezTo>
                <a:cubicBezTo>
                  <a:pt x="768" y="0"/>
                  <a:pt x="768" y="0"/>
                  <a:pt x="768" y="0"/>
                </a:cubicBezTo>
                <a:cubicBezTo>
                  <a:pt x="24" y="0"/>
                  <a:pt x="24" y="0"/>
                  <a:pt x="24" y="0"/>
                </a:cubicBezTo>
                <a:cubicBezTo>
                  <a:pt x="11" y="0"/>
                  <a:pt x="0" y="12"/>
                  <a:pt x="0" y="27"/>
                </a:cubicBezTo>
                <a:cubicBezTo>
                  <a:pt x="0" y="669"/>
                  <a:pt x="0" y="669"/>
                  <a:pt x="0" y="669"/>
                </a:cubicBezTo>
                <a:cubicBezTo>
                  <a:pt x="0" y="684"/>
                  <a:pt x="11" y="696"/>
                  <a:pt x="24" y="696"/>
                </a:cubicBezTo>
                <a:cubicBezTo>
                  <a:pt x="768" y="696"/>
                  <a:pt x="768" y="696"/>
                  <a:pt x="768" y="696"/>
                </a:cubicBezTo>
                <a:cubicBezTo>
                  <a:pt x="833" y="696"/>
                  <a:pt x="833" y="696"/>
                  <a:pt x="833" y="696"/>
                </a:cubicBezTo>
                <a:cubicBezTo>
                  <a:pt x="1577" y="696"/>
                  <a:pt x="1577" y="696"/>
                  <a:pt x="1577" y="696"/>
                </a:cubicBezTo>
                <a:cubicBezTo>
                  <a:pt x="1590" y="696"/>
                  <a:pt x="1601" y="684"/>
                  <a:pt x="1601" y="669"/>
                </a:cubicBezTo>
                <a:cubicBezTo>
                  <a:pt x="1601" y="27"/>
                  <a:pt x="1601" y="27"/>
                  <a:pt x="1601" y="27"/>
                </a:cubicBezTo>
                <a:cubicBezTo>
                  <a:pt x="1601" y="12"/>
                  <a:pt x="1590" y="0"/>
                  <a:pt x="1577" y="0"/>
                </a:cubicBezTo>
                <a:close/>
              </a:path>
            </a:pathLst>
          </a:custGeom>
          <a:ln>
            <a:noFill/>
          </a:ln>
          <a:effectLst>
            <a:outerShdw blurRad="50800" dist="38100" dir="5400000" algn="tl" rotWithShape="0">
              <a:srgbClr val="000000">
                <a:alpha val="43000"/>
              </a:srgbClr>
            </a:outerShdw>
          </a:effectLst>
          <a:extLst>
            <a:ext uri="{91240B29-F687-4f45-9708-019B960494DF}">
              <a14:hiddenLine xmlns:a16="http://schemas.microsoft.com/office/drawing/2014/main" xmlns:p14="http://schemas.microsoft.com/office/powerpoint/2010/main" xmlns:a14="http://schemas.microsoft.com/office/drawing/2010/main" xmlns="" w="9525">
                <a:solidFill>
                  <a:srgbClr val="000000"/>
                </a:solidFill>
                <a:round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D1F047C-C727-42A7-85C5-68C5AA1B1A9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89962" y="1673524"/>
            <a:ext cx="3485073" cy="2596724"/>
          </a:xfrm>
        </p:spPr>
        <p:txBody>
          <a:bodyPr>
            <a:normAutofit/>
          </a:bodyPr>
          <a:lstStyle/>
          <a:p>
            <a:pPr algn="l"/>
            <a:r>
              <a:rPr lang="en-US" sz="4000" dirty="0">
                <a:latin typeface="Consolas" panose="020B0609020204030204" pitchFamily="49" charset="0"/>
              </a:rPr>
              <a:t>COBOL: </a:t>
            </a:r>
            <a:br>
              <a:rPr lang="en-US" sz="4000" dirty="0">
                <a:latin typeface="Consolas" panose="020B0609020204030204" pitchFamily="49" charset="0"/>
              </a:rPr>
            </a:br>
            <a:r>
              <a:rPr lang="en-US" sz="4000" dirty="0">
                <a:latin typeface="Consolas" panose="020B0609020204030204" pitchFamily="49" charset="0"/>
              </a:rPr>
              <a:t>An Overview</a:t>
            </a:r>
          </a:p>
        </p:txBody>
      </p:sp>
    </p:spTree>
    <p:extLst>
      <p:ext uri="{BB962C8B-B14F-4D97-AF65-F5344CB8AC3E}">
        <p14:creationId xmlns:p14="http://schemas.microsoft.com/office/powerpoint/2010/main" val="41678842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4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5" name="Rectangle 5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Goudy Old Style"/>
              <a:ea typeface="+mn-ea"/>
              <a:cs typeface="+mn-cs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2B2D6DE-C9B5-4678-91EF-77E85F2350D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-1"/>
          <a:stretch/>
        </p:blipFill>
        <p:spPr>
          <a:xfrm>
            <a:off x="-8623" y="10"/>
            <a:ext cx="6265647" cy="6857990"/>
          </a:xfrm>
          <a:prstGeom prst="rect">
            <a:avLst/>
          </a:prstGeom>
        </p:spPr>
      </p:pic>
      <p:pic>
        <p:nvPicPr>
          <p:cNvPr id="57" name="Picture 56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9559F60-4CE1-4E2F-86EA-1B60679F1F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US" sz="4000" dirty="0">
                <a:latin typeface="Consolas" panose="020B0609020204030204" pitchFamily="49" charset="0"/>
              </a:rPr>
              <a:t>Contents</a:t>
            </a:r>
          </a:p>
        </p:txBody>
      </p:sp>
      <p:sp>
        <p:nvSpPr>
          <p:cNvPr id="24" name="Content Placeholder 2">
            <a:extLst>
              <a:ext uri="{FF2B5EF4-FFF2-40B4-BE49-F238E27FC236}">
                <a16:creationId xmlns:a16="http://schemas.microsoft.com/office/drawing/2014/main" id="{F260476B-CCA6-412B-A9C5-399C34AE6F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3" y="1732449"/>
            <a:ext cx="4403596" cy="4058751"/>
          </a:xfrm>
        </p:spPr>
        <p:txBody>
          <a:bodyPr anchor="t">
            <a:normAutofit/>
          </a:bodyPr>
          <a:lstStyle/>
          <a:p>
            <a:pPr marL="36900" lv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Historical Background of COBOL</a:t>
            </a:r>
          </a:p>
          <a:p>
            <a:pPr marL="36900" lv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COBOL Program Structure</a:t>
            </a:r>
          </a:p>
          <a:p>
            <a:pPr marL="36900" lv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COBOL Syntax</a:t>
            </a:r>
          </a:p>
          <a:p>
            <a:pPr marL="36900" lvl="0" indent="0">
              <a:buNone/>
            </a:pPr>
            <a:r>
              <a:rPr lang="en-US" sz="2400" dirty="0">
                <a:latin typeface="Consolas" panose="020B0609020204030204" pitchFamily="49" charset="0"/>
              </a:rPr>
              <a:t>Explanation of Solution Code (Stack Implementation)</a:t>
            </a:r>
          </a:p>
        </p:txBody>
      </p:sp>
    </p:spTree>
    <p:extLst>
      <p:ext uri="{BB962C8B-B14F-4D97-AF65-F5344CB8AC3E}">
        <p14:creationId xmlns:p14="http://schemas.microsoft.com/office/powerpoint/2010/main" val="32202356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BD32A07D-C646-4CC0-BA93-76707E707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8A86A80-B332-7A3B-B494-D40AC4A8608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9696" y="1947672"/>
            <a:ext cx="3382832" cy="1654978"/>
          </a:xfrm>
        </p:spPr>
        <p:txBody>
          <a:bodyPr vert="horz" lIns="91440" tIns="45720" rIns="91440" bIns="45720" rtlCol="0" anchor="b">
            <a:normAutofit/>
          </a:bodyPr>
          <a:lstStyle/>
          <a:p>
            <a:pPr algn="l"/>
            <a:r>
              <a:rPr lang="en-US" sz="4200" dirty="0">
                <a:latin typeface="Consolas" panose="020B0609020204030204" pitchFamily="49" charset="0"/>
              </a:rPr>
              <a:t>Historical Background</a:t>
            </a:r>
          </a:p>
        </p:txBody>
      </p:sp>
      <p:pic>
        <p:nvPicPr>
          <p:cNvPr id="1026" name="Picture 2" descr="COBOL - Wikipedia">
            <a:extLst>
              <a:ext uri="{FF2B5EF4-FFF2-40B4-BE49-F238E27FC236}">
                <a16:creationId xmlns:a16="http://schemas.microsoft.com/office/drawing/2014/main" id="{AE9DE027-1900-B9DC-EEFC-4614746D008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5610225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370336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5" name="Rectangle 1034">
            <a:extLst>
              <a:ext uri="{FF2B5EF4-FFF2-40B4-BE49-F238E27FC236}">
                <a16:creationId xmlns:a16="http://schemas.microsoft.com/office/drawing/2014/main" id="{0EF2A0DA-AE81-4A45-972E-646AC2870C2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The Legacy of Grace Hopper - Stories - Vassar College">
            <a:extLst>
              <a:ext uri="{FF2B5EF4-FFF2-40B4-BE49-F238E27FC236}">
                <a16:creationId xmlns:a16="http://schemas.microsoft.com/office/drawing/2014/main" id="{BB48FEAB-07E7-EA0A-2712-ECC0E697A4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" b="10283"/>
          <a:stretch>
            <a:fillRect/>
          </a:stretch>
        </p:blipFill>
        <p:spPr bwMode="auto">
          <a:xfrm>
            <a:off x="-8623" y="10"/>
            <a:ext cx="626564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035">
            <a:extLst>
              <a:ext uri="{FF2B5EF4-FFF2-40B4-BE49-F238E27FC236}">
                <a16:creationId xmlns:a16="http://schemas.microsoft.com/office/drawing/2014/main" id="{B536FA4E-0152-4E27-91DA-0FC22D1846B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6257026" y="1"/>
            <a:ext cx="5934973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04E8FFA-2B36-BC76-EDE2-508CA4FCAC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00493" y="609600"/>
            <a:ext cx="4538124" cy="970450"/>
          </a:xfrm>
        </p:spPr>
        <p:txBody>
          <a:bodyPr anchor="b">
            <a:normAutofit/>
          </a:bodyPr>
          <a:lstStyle/>
          <a:p>
            <a:pPr algn="l"/>
            <a:r>
              <a:rPr lang="en-PH" sz="3200" dirty="0">
                <a:latin typeface="Consolas" panose="020B0609020204030204" pitchFamily="49" charset="0"/>
              </a:rPr>
              <a:t>Historical Background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23ED3-87C1-4A6D-86BC-5C050FF9805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00492" y="1732449"/>
            <a:ext cx="4538124" cy="4515951"/>
          </a:xfrm>
        </p:spPr>
        <p:txBody>
          <a:bodyPr anchor="t">
            <a:normAutofit fontScale="92500" lnSpcReduction="10000"/>
          </a:bodyPr>
          <a:lstStyle/>
          <a:p>
            <a:r>
              <a:rPr lang="en-US" sz="1800" dirty="0">
                <a:effectLst/>
                <a:latin typeface="Consolas" panose="020B0609020204030204" pitchFamily="49" charset="0"/>
              </a:rPr>
              <a:t>COBOL was developed by the Conference on Data Systems Languages (CODASYL), which formed in 1959. </a:t>
            </a:r>
          </a:p>
          <a:p>
            <a:r>
              <a:rPr lang="en-US" sz="1800" dirty="0">
                <a:effectLst/>
                <a:latin typeface="Consolas" panose="020B0609020204030204" pitchFamily="49" charset="0"/>
              </a:rPr>
              <a:t>Was partly derived from FLOW-MATIC, the first data-processing language to use English-like keywords</a:t>
            </a:r>
          </a:p>
          <a:p>
            <a:r>
              <a:rPr lang="en-US" sz="1800" dirty="0">
                <a:effectLst/>
                <a:latin typeface="Consolas" panose="020B0609020204030204" pitchFamily="49" charset="0"/>
              </a:rPr>
              <a:t>Created by computer science pioneer Dr. Grace Hopper, COBOL was created as part of a US Department of Defense initiative pushing for a programming language that could work across operating systems and hardware environments.</a:t>
            </a:r>
            <a:endParaRPr lang="en-PH" sz="18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2136185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83ABDC6-9398-F586-E25A-3D0DC7BA7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DE61CEF-2272-F45C-1EE0-75AF81F7FE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92516C5-B0F7-44D4-D7CB-60285D7E03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  <a:latin typeface="Consolas" panose="020B0609020204030204" pitchFamily="49" charset="0"/>
              </a:rPr>
              <a:t>The first version of the COBOL programming language was released in 1960</a:t>
            </a:r>
          </a:p>
          <a:p>
            <a:r>
              <a:rPr lang="en-US" dirty="0">
                <a:effectLst/>
                <a:latin typeface="Consolas" panose="020B0609020204030204" pitchFamily="49" charset="0"/>
              </a:rPr>
              <a:t>It was ultimately standardized as a computer language in 1968 (ISO/IEC 1989). </a:t>
            </a:r>
          </a:p>
          <a:p>
            <a:r>
              <a:rPr lang="en-US" dirty="0">
                <a:effectLst/>
                <a:latin typeface="Consolas" panose="020B0609020204030204" pitchFamily="49" charset="0"/>
              </a:rPr>
              <a:t>Implemented several revisions and modernizations, including COBOL-61, COBOL-68, COBOL-74 and COBOL-85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50538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5584CA6-3EF1-7ED1-4E5F-68D3131A48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41" name="Rectangle 1040">
            <a:extLst>
              <a:ext uri="{FF2B5EF4-FFF2-40B4-BE49-F238E27FC236}">
                <a16:creationId xmlns:a16="http://schemas.microsoft.com/office/drawing/2014/main" id="{9255F579-B5A9-C6BE-764A-ABABEDFEE3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83B899E-72DF-53D9-896F-C7464EEA3F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Historical Background</a:t>
            </a:r>
          </a:p>
        </p:txBody>
      </p:sp>
      <p:cxnSp>
        <p:nvCxnSpPr>
          <p:cNvPr id="1043" name="Straight Connector 1042">
            <a:extLst>
              <a:ext uri="{FF2B5EF4-FFF2-40B4-BE49-F238E27FC236}">
                <a16:creationId xmlns:a16="http://schemas.microsoft.com/office/drawing/2014/main" id="{B7F59F5B-CC66-ACB6-61CD-1A08DF24DCF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FF1F74-0A65-0F26-6799-A33F48887C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 fontScale="92500"/>
          </a:bodyPr>
          <a:lstStyle/>
          <a:p>
            <a:r>
              <a:rPr lang="en-US" dirty="0">
                <a:effectLst/>
                <a:latin typeface="Consolas" panose="020B0609020204030204" pitchFamily="49" charset="0"/>
              </a:rPr>
              <a:t>COBOL 2002 aimed to make COBOL applications more compatible with modern software development practices by introducing object-oriented features</a:t>
            </a:r>
          </a:p>
          <a:p>
            <a:r>
              <a:rPr lang="en-US" dirty="0">
                <a:effectLst/>
                <a:latin typeface="Consolas" panose="020B0609020204030204" pitchFamily="49" charset="0"/>
              </a:rPr>
              <a:t>COBOL 14 introduced new changes, including replacing portable arithmetic results with </a:t>
            </a:r>
            <a:r>
              <a:rPr lang="en-US" u="sng" dirty="0">
                <a:effectLst/>
                <a:latin typeface="Consolas" panose="020B0609020204030204" pitchFamily="49" charset="0"/>
              </a:rPr>
              <a:t>IEEE 754</a:t>
            </a:r>
            <a:r>
              <a:rPr lang="en-US" dirty="0">
                <a:effectLst/>
                <a:latin typeface="Consolas" panose="020B0609020204030204" pitchFamily="49" charset="0"/>
              </a:rPr>
              <a:t> data types</a:t>
            </a:r>
          </a:p>
          <a:p>
            <a:r>
              <a:rPr lang="en-US" dirty="0">
                <a:effectLst/>
                <a:latin typeface="Consolas" panose="020B0609020204030204" pitchFamily="49" charset="0"/>
              </a:rPr>
              <a:t>The latest standard, COBOL 2023, delivered additional new features focused on improving COBOL's interoperability with modern systems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326031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8" name="Rectangle 1037">
            <a:extLst>
              <a:ext uri="{FF2B5EF4-FFF2-40B4-BE49-F238E27FC236}">
                <a16:creationId xmlns:a16="http://schemas.microsoft.com/office/drawing/2014/main" id="{766CDA4A-6CAA-4FED-A424-FF9D363E93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15DA5DA-6F90-88EC-E73A-7C033C895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70693" y="4435229"/>
            <a:ext cx="9440034" cy="1059644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800" dirty="0">
                <a:latin typeface="Consolas" panose="020B0609020204030204" pitchFamily="49" charset="0"/>
              </a:rPr>
              <a:t>COBOL Program Structure</a:t>
            </a:r>
          </a:p>
        </p:txBody>
      </p:sp>
      <p:pic>
        <p:nvPicPr>
          <p:cNvPr id="1040" name="Picture 1039">
            <a:extLst>
              <a:ext uri="{FF2B5EF4-FFF2-40B4-BE49-F238E27FC236}">
                <a16:creationId xmlns:a16="http://schemas.microsoft.com/office/drawing/2014/main" id="{9B0DB875-49E3-4B9D-8AAE-D81A127B664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3883" y="547807"/>
            <a:ext cx="10141799" cy="3816806"/>
          </a:xfrm>
          <a:prstGeom prst="rect">
            <a:avLst/>
          </a:prstGeom>
        </p:spPr>
      </p:pic>
      <p:pic>
        <p:nvPicPr>
          <p:cNvPr id="1026" name="Picture 2" descr="7 cobol examples with explanations. | by Yvan Scher | Medium">
            <a:extLst>
              <a:ext uri="{FF2B5EF4-FFF2-40B4-BE49-F238E27FC236}">
                <a16:creationId xmlns:a16="http://schemas.microsoft.com/office/drawing/2014/main" id="{CD6913E6-BCB4-CB8E-A9F1-73FDF94DE9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518" r="-1" b="17288"/>
          <a:stretch>
            <a:fillRect/>
          </a:stretch>
        </p:blipFill>
        <p:spPr bwMode="auto">
          <a:xfrm>
            <a:off x="1169349" y="695008"/>
            <a:ext cx="9845346" cy="352567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5719613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98761467-7640-47B1-90D4-04ADAD632C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Freeform: Shape 18">
            <a:extLst>
              <a:ext uri="{FF2B5EF4-FFF2-40B4-BE49-F238E27FC236}">
                <a16:creationId xmlns:a16="http://schemas.microsoft.com/office/drawing/2014/main" id="{738B1503-6FE9-46B4-9354-E943D91B11A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3805514" y="-2"/>
            <a:ext cx="8386486" cy="6858002"/>
          </a:xfrm>
          <a:custGeom>
            <a:avLst/>
            <a:gdLst>
              <a:gd name="connsiteX0" fmla="*/ 0 w 6088489"/>
              <a:gd name="connsiteY0" fmla="*/ 0 h 6858002"/>
              <a:gd name="connsiteX1" fmla="*/ 3563332 w 6088489"/>
              <a:gd name="connsiteY1" fmla="*/ 0 h 6858002"/>
              <a:gd name="connsiteX2" fmla="*/ 3563332 w 6088489"/>
              <a:gd name="connsiteY2" fmla="*/ 3 h 6858002"/>
              <a:gd name="connsiteX3" fmla="*/ 5842099 w 6088489"/>
              <a:gd name="connsiteY3" fmla="*/ 3 h 6858002"/>
              <a:gd name="connsiteX4" fmla="*/ 5842099 w 6088489"/>
              <a:gd name="connsiteY4" fmla="*/ 4 h 6858002"/>
              <a:gd name="connsiteX5" fmla="*/ 5835346 w 6088489"/>
              <a:gd name="connsiteY5" fmla="*/ 4 h 6858002"/>
              <a:gd name="connsiteX6" fmla="*/ 5841229 w 6088489"/>
              <a:gd name="connsiteY6" fmla="*/ 40466 h 6858002"/>
              <a:gd name="connsiteX7" fmla="*/ 5858543 w 6088489"/>
              <a:gd name="connsiteY7" fmla="*/ 159110 h 6858002"/>
              <a:gd name="connsiteX8" fmla="*/ 5870645 w 6088489"/>
              <a:gd name="connsiteY8" fmla="*/ 245521 h 6858002"/>
              <a:gd name="connsiteX9" fmla="*/ 5883420 w 6088489"/>
              <a:gd name="connsiteY9" fmla="*/ 348391 h 6858002"/>
              <a:gd name="connsiteX10" fmla="*/ 5898716 w 6088489"/>
              <a:gd name="connsiteY10" fmla="*/ 470463 h 6858002"/>
              <a:gd name="connsiteX11" fmla="*/ 5914853 w 6088489"/>
              <a:gd name="connsiteY11" fmla="*/ 605566 h 6858002"/>
              <a:gd name="connsiteX12" fmla="*/ 5931830 w 6088489"/>
              <a:gd name="connsiteY12" fmla="*/ 757813 h 6858002"/>
              <a:gd name="connsiteX13" fmla="*/ 5949815 w 6088489"/>
              <a:gd name="connsiteY13" fmla="*/ 923777 h 6858002"/>
              <a:gd name="connsiteX14" fmla="*/ 5967801 w 6088489"/>
              <a:gd name="connsiteY14" fmla="*/ 1104142 h 6858002"/>
              <a:gd name="connsiteX15" fmla="*/ 5986122 w 6088489"/>
              <a:gd name="connsiteY15" fmla="*/ 1296166 h 6858002"/>
              <a:gd name="connsiteX16" fmla="*/ 6003099 w 6088489"/>
              <a:gd name="connsiteY16" fmla="*/ 1503278 h 6858002"/>
              <a:gd name="connsiteX17" fmla="*/ 6019404 w 6088489"/>
              <a:gd name="connsiteY17" fmla="*/ 1719991 h 6858002"/>
              <a:gd name="connsiteX18" fmla="*/ 6034196 w 6088489"/>
              <a:gd name="connsiteY18" fmla="*/ 1949048 h 6858002"/>
              <a:gd name="connsiteX19" fmla="*/ 6048315 w 6088489"/>
              <a:gd name="connsiteY19" fmla="*/ 2187706 h 6858002"/>
              <a:gd name="connsiteX20" fmla="*/ 6061595 w 6088489"/>
              <a:gd name="connsiteY20" fmla="*/ 2436652 h 6858002"/>
              <a:gd name="connsiteX21" fmla="*/ 6066301 w 6088489"/>
              <a:gd name="connsiteY21" fmla="*/ 2564211 h 6858002"/>
              <a:gd name="connsiteX22" fmla="*/ 6071512 w 6088489"/>
              <a:gd name="connsiteY22" fmla="*/ 2694512 h 6858002"/>
              <a:gd name="connsiteX23" fmla="*/ 6076386 w 6088489"/>
              <a:gd name="connsiteY23" fmla="*/ 2826871 h 6858002"/>
              <a:gd name="connsiteX24" fmla="*/ 6079580 w 6088489"/>
              <a:gd name="connsiteY24" fmla="*/ 2959917 h 6858002"/>
              <a:gd name="connsiteX25" fmla="*/ 6082438 w 6088489"/>
              <a:gd name="connsiteY25" fmla="*/ 3095705 h 6858002"/>
              <a:gd name="connsiteX26" fmla="*/ 6085463 w 6088489"/>
              <a:gd name="connsiteY26" fmla="*/ 3232865 h 6858002"/>
              <a:gd name="connsiteX27" fmla="*/ 6087480 w 6088489"/>
              <a:gd name="connsiteY27" fmla="*/ 3372768 h 6858002"/>
              <a:gd name="connsiteX28" fmla="*/ 6087480 w 6088489"/>
              <a:gd name="connsiteY28" fmla="*/ 3514043 h 6858002"/>
              <a:gd name="connsiteX29" fmla="*/ 6088489 w 6088489"/>
              <a:gd name="connsiteY29" fmla="*/ 3656689 h 6858002"/>
              <a:gd name="connsiteX30" fmla="*/ 6087480 w 6088489"/>
              <a:gd name="connsiteY30" fmla="*/ 3800707 h 6858002"/>
              <a:gd name="connsiteX31" fmla="*/ 6085463 w 6088489"/>
              <a:gd name="connsiteY31" fmla="*/ 3946783 h 6858002"/>
              <a:gd name="connsiteX32" fmla="*/ 6083614 w 6088489"/>
              <a:gd name="connsiteY32" fmla="*/ 4092858 h 6858002"/>
              <a:gd name="connsiteX33" fmla="*/ 6079580 w 6088489"/>
              <a:gd name="connsiteY33" fmla="*/ 4240991 h 6858002"/>
              <a:gd name="connsiteX34" fmla="*/ 6075378 w 6088489"/>
              <a:gd name="connsiteY34" fmla="*/ 4390495 h 6858002"/>
              <a:gd name="connsiteX35" fmla="*/ 6070503 w 6088489"/>
              <a:gd name="connsiteY35" fmla="*/ 4540000 h 6858002"/>
              <a:gd name="connsiteX36" fmla="*/ 6063612 w 6088489"/>
              <a:gd name="connsiteY36" fmla="*/ 4690876 h 6858002"/>
              <a:gd name="connsiteX37" fmla="*/ 6055375 w 6088489"/>
              <a:gd name="connsiteY37" fmla="*/ 4843123 h 6858002"/>
              <a:gd name="connsiteX38" fmla="*/ 6047475 w 6088489"/>
              <a:gd name="connsiteY38" fmla="*/ 4996057 h 6858002"/>
              <a:gd name="connsiteX39" fmla="*/ 6037390 w 6088489"/>
              <a:gd name="connsiteY39" fmla="*/ 5148990 h 6858002"/>
              <a:gd name="connsiteX40" fmla="*/ 6025287 w 6088489"/>
              <a:gd name="connsiteY40" fmla="*/ 5303981 h 6858002"/>
              <a:gd name="connsiteX41" fmla="*/ 6013185 w 6088489"/>
              <a:gd name="connsiteY41" fmla="*/ 5456914 h 6858002"/>
              <a:gd name="connsiteX42" fmla="*/ 5999233 w 6088489"/>
              <a:gd name="connsiteY42" fmla="*/ 5612591 h 6858002"/>
              <a:gd name="connsiteX43" fmla="*/ 5983937 w 6088489"/>
              <a:gd name="connsiteY43" fmla="*/ 5768953 h 6858002"/>
              <a:gd name="connsiteX44" fmla="*/ 5967801 w 6088489"/>
              <a:gd name="connsiteY44" fmla="*/ 5923258 h 6858002"/>
              <a:gd name="connsiteX45" fmla="*/ 5948975 w 6088489"/>
              <a:gd name="connsiteY45" fmla="*/ 6079621 h 6858002"/>
              <a:gd name="connsiteX46" fmla="*/ 5928804 w 6088489"/>
              <a:gd name="connsiteY46" fmla="*/ 6235297 h 6858002"/>
              <a:gd name="connsiteX47" fmla="*/ 5908801 w 6088489"/>
              <a:gd name="connsiteY47" fmla="*/ 6391660 h 6858002"/>
              <a:gd name="connsiteX48" fmla="*/ 5885437 w 6088489"/>
              <a:gd name="connsiteY48" fmla="*/ 6547336 h 6858002"/>
              <a:gd name="connsiteX49" fmla="*/ 5861568 w 6088489"/>
              <a:gd name="connsiteY49" fmla="*/ 6702327 h 6858002"/>
              <a:gd name="connsiteX50" fmla="*/ 5836524 w 6088489"/>
              <a:gd name="connsiteY50" fmla="*/ 6858002 h 6858002"/>
              <a:gd name="connsiteX51" fmla="*/ 3563332 w 6088489"/>
              <a:gd name="connsiteY51" fmla="*/ 6858002 h 6858002"/>
              <a:gd name="connsiteX52" fmla="*/ 1223490 w 6088489"/>
              <a:gd name="connsiteY52" fmla="*/ 6858002 h 6858002"/>
              <a:gd name="connsiteX53" fmla="*/ 0 w 6088489"/>
              <a:gd name="connsiteY53" fmla="*/ 6858002 h 68580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6088489" h="6858002">
                <a:moveTo>
                  <a:pt x="0" y="0"/>
                </a:moveTo>
                <a:lnTo>
                  <a:pt x="3563332" y="0"/>
                </a:lnTo>
                <a:lnTo>
                  <a:pt x="3563332" y="3"/>
                </a:lnTo>
                <a:lnTo>
                  <a:pt x="5842099" y="3"/>
                </a:lnTo>
                <a:lnTo>
                  <a:pt x="5842099" y="4"/>
                </a:lnTo>
                <a:lnTo>
                  <a:pt x="5835346" y="4"/>
                </a:lnTo>
                <a:lnTo>
                  <a:pt x="5841229" y="40466"/>
                </a:lnTo>
                <a:lnTo>
                  <a:pt x="5858543" y="159110"/>
                </a:lnTo>
                <a:lnTo>
                  <a:pt x="5870645" y="245521"/>
                </a:lnTo>
                <a:lnTo>
                  <a:pt x="5883420" y="348391"/>
                </a:lnTo>
                <a:lnTo>
                  <a:pt x="5898716" y="470463"/>
                </a:lnTo>
                <a:lnTo>
                  <a:pt x="5914853" y="605566"/>
                </a:lnTo>
                <a:lnTo>
                  <a:pt x="5931830" y="757813"/>
                </a:lnTo>
                <a:lnTo>
                  <a:pt x="5949815" y="923777"/>
                </a:lnTo>
                <a:lnTo>
                  <a:pt x="5967801" y="1104142"/>
                </a:lnTo>
                <a:lnTo>
                  <a:pt x="5986122" y="1296166"/>
                </a:lnTo>
                <a:lnTo>
                  <a:pt x="6003099" y="1503278"/>
                </a:lnTo>
                <a:lnTo>
                  <a:pt x="6019404" y="1719991"/>
                </a:lnTo>
                <a:lnTo>
                  <a:pt x="6034196" y="1949048"/>
                </a:lnTo>
                <a:lnTo>
                  <a:pt x="6048315" y="2187706"/>
                </a:lnTo>
                <a:lnTo>
                  <a:pt x="6061595" y="2436652"/>
                </a:lnTo>
                <a:lnTo>
                  <a:pt x="6066301" y="2564211"/>
                </a:lnTo>
                <a:lnTo>
                  <a:pt x="6071512" y="2694512"/>
                </a:lnTo>
                <a:lnTo>
                  <a:pt x="6076386" y="2826871"/>
                </a:lnTo>
                <a:lnTo>
                  <a:pt x="6079580" y="2959917"/>
                </a:lnTo>
                <a:lnTo>
                  <a:pt x="6082438" y="3095705"/>
                </a:lnTo>
                <a:lnTo>
                  <a:pt x="6085463" y="3232865"/>
                </a:lnTo>
                <a:lnTo>
                  <a:pt x="6087480" y="3372768"/>
                </a:lnTo>
                <a:lnTo>
                  <a:pt x="6087480" y="3514043"/>
                </a:lnTo>
                <a:lnTo>
                  <a:pt x="6088489" y="3656689"/>
                </a:lnTo>
                <a:lnTo>
                  <a:pt x="6087480" y="3800707"/>
                </a:lnTo>
                <a:lnTo>
                  <a:pt x="6085463" y="3946783"/>
                </a:lnTo>
                <a:lnTo>
                  <a:pt x="6083614" y="4092858"/>
                </a:lnTo>
                <a:lnTo>
                  <a:pt x="6079580" y="4240991"/>
                </a:lnTo>
                <a:lnTo>
                  <a:pt x="6075378" y="4390495"/>
                </a:lnTo>
                <a:lnTo>
                  <a:pt x="6070503" y="4540000"/>
                </a:lnTo>
                <a:lnTo>
                  <a:pt x="6063612" y="4690876"/>
                </a:lnTo>
                <a:lnTo>
                  <a:pt x="6055375" y="4843123"/>
                </a:lnTo>
                <a:lnTo>
                  <a:pt x="6047475" y="4996057"/>
                </a:lnTo>
                <a:lnTo>
                  <a:pt x="6037390" y="5148990"/>
                </a:lnTo>
                <a:lnTo>
                  <a:pt x="6025287" y="5303981"/>
                </a:lnTo>
                <a:lnTo>
                  <a:pt x="6013185" y="5456914"/>
                </a:lnTo>
                <a:lnTo>
                  <a:pt x="5999233" y="5612591"/>
                </a:lnTo>
                <a:lnTo>
                  <a:pt x="5983937" y="5768953"/>
                </a:lnTo>
                <a:lnTo>
                  <a:pt x="5967801" y="5923258"/>
                </a:lnTo>
                <a:lnTo>
                  <a:pt x="5948975" y="6079621"/>
                </a:lnTo>
                <a:lnTo>
                  <a:pt x="5928804" y="6235297"/>
                </a:lnTo>
                <a:lnTo>
                  <a:pt x="5908801" y="6391660"/>
                </a:lnTo>
                <a:lnTo>
                  <a:pt x="5885437" y="6547336"/>
                </a:lnTo>
                <a:lnTo>
                  <a:pt x="5861568" y="6702327"/>
                </a:lnTo>
                <a:lnTo>
                  <a:pt x="5836524" y="6858002"/>
                </a:lnTo>
                <a:lnTo>
                  <a:pt x="3563332" y="6858002"/>
                </a:lnTo>
                <a:lnTo>
                  <a:pt x="1223490" y="6858002"/>
                </a:lnTo>
                <a:lnTo>
                  <a:pt x="0" y="6858002"/>
                </a:lnTo>
                <a:close/>
              </a:path>
            </a:pathLst>
          </a:custGeom>
          <a:ln>
            <a:noFill/>
          </a:ln>
          <a:effectLst>
            <a:outerShdw blurRad="50800" dist="38100" dir="10800000" algn="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A32CE53-9924-5792-2AB2-2EDF9F187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4295" y="965196"/>
            <a:ext cx="6197686" cy="1371604"/>
          </a:xfrm>
        </p:spPr>
        <p:txBody>
          <a:bodyPr>
            <a:normAutofit/>
          </a:bodyPr>
          <a:lstStyle/>
          <a:p>
            <a:pPr algn="l"/>
            <a:r>
              <a:rPr lang="en-PH" dirty="0">
                <a:latin typeface="Consolas" panose="020B0609020204030204" pitchFamily="49" charset="0"/>
              </a:rPr>
              <a:t>Program Structure</a:t>
            </a:r>
          </a:p>
        </p:txBody>
      </p:sp>
      <p:pic>
        <p:nvPicPr>
          <p:cNvPr id="7" name="Graphic 6" descr="Hierarchy">
            <a:extLst>
              <a:ext uri="{FF2B5EF4-FFF2-40B4-BE49-F238E27FC236}">
                <a16:creationId xmlns:a16="http://schemas.microsoft.com/office/drawing/2014/main" id="{CADC99EA-0C2E-2FC4-8B42-666C8B4582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644332" y="2170143"/>
            <a:ext cx="2517715" cy="2517715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2530AC-62CF-ADA2-A55A-E0BF0303AD8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2336800"/>
            <a:ext cx="6470905" cy="3740150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90000"/>
              </a:lnSpc>
            </a:pPr>
            <a:r>
              <a:rPr lang="en-PH" sz="2000" dirty="0">
                <a:effectLst/>
                <a:latin typeface="Consolas" panose="020B0609020204030204" pitchFamily="49" charset="0"/>
              </a:rPr>
              <a:t>COBOL has a hierarchical structure that comprises divisions, sections, paragraphs, sentences, verbs and character strings.</a:t>
            </a:r>
          </a:p>
          <a:p>
            <a:pPr>
              <a:lnSpc>
                <a:spcPct val="90000"/>
              </a:lnSpc>
            </a:pPr>
            <a:r>
              <a:rPr lang="en-US" sz="2000" dirty="0">
                <a:effectLst/>
                <a:latin typeface="Consolas" panose="020B0609020204030204" pitchFamily="49" charset="0"/>
              </a:rPr>
              <a:t>The divisional nature of a COBOL system (which comprises four divisions) enables a distinct separation of concerns within COBOL programs</a:t>
            </a:r>
          </a:p>
          <a:p>
            <a:pPr>
              <a:lnSpc>
                <a:spcPct val="90000"/>
              </a:lnSpc>
            </a:pPr>
            <a:r>
              <a:rPr lang="en-US" sz="2000" dirty="0">
                <a:effectLst/>
                <a:latin typeface="Consolas" panose="020B0609020204030204" pitchFamily="49" charset="0"/>
              </a:rPr>
              <a:t>COBOL divisions are as follows: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  <a:latin typeface="Consolas" panose="020B0609020204030204" pitchFamily="49" charset="0"/>
              </a:rPr>
              <a:t>Identification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  <a:latin typeface="Consolas" panose="020B0609020204030204" pitchFamily="49" charset="0"/>
              </a:rPr>
              <a:t>Environment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  <a:latin typeface="Consolas" panose="020B0609020204030204" pitchFamily="49" charset="0"/>
              </a:rPr>
              <a:t>Data division</a:t>
            </a:r>
          </a:p>
          <a:p>
            <a:pPr lvl="1">
              <a:lnSpc>
                <a:spcPct val="90000"/>
              </a:lnSpc>
            </a:pPr>
            <a:r>
              <a:rPr lang="en-US" sz="2000" dirty="0">
                <a:effectLst/>
                <a:latin typeface="Consolas" panose="020B0609020204030204" pitchFamily="49" charset="0"/>
              </a:rPr>
              <a:t>Procedure division</a:t>
            </a:r>
            <a:endParaRPr lang="en-PH" sz="2000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3664865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4FCE7B5-8275-BC21-A922-FCB459D159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1716" y="1115568"/>
            <a:ext cx="3820587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Identification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EA792A7-BF81-A2CD-955E-77DD69D5216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r>
              <a:rPr lang="en-US" dirty="0">
                <a:effectLst/>
                <a:latin typeface="Consolas" panose="020B0609020204030204" pitchFamily="49" charset="0"/>
              </a:rPr>
              <a:t>is the first division of a COBOL program, and is mandatory</a:t>
            </a:r>
          </a:p>
          <a:p>
            <a:r>
              <a:rPr lang="en-US" dirty="0">
                <a:effectLst/>
                <a:latin typeface="Consolas" panose="020B0609020204030204" pitchFamily="49" charset="0"/>
              </a:rPr>
              <a:t>assigns the program a name and provides other identification information like author, date written and a brief description of the program's purpose</a:t>
            </a:r>
          </a:p>
          <a:p>
            <a:r>
              <a:rPr lang="en-US" dirty="0">
                <a:effectLst/>
                <a:latin typeface="Consolas" panose="020B0609020204030204" pitchFamily="49" charset="0"/>
              </a:rPr>
              <a:t>COBOL programs need a PROGRAM-ID paragraph to function within the identification division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090767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A6C2C86-63BF-47D5-AA3F-905111A238E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CE328AA-C7FC-6459-BEC0-6E30890C81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Environment 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25A0768-3044-4AA9-A889-D2CAA68C51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BCB219-A672-A368-451B-9CBE8E238F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12635" y="946404"/>
            <a:ext cx="6245352" cy="4965192"/>
          </a:xfrm>
        </p:spPr>
        <p:txBody>
          <a:bodyPr anchor="ctr">
            <a:normAutofit lnSpcReduction="10000"/>
          </a:bodyPr>
          <a:lstStyle/>
          <a:p>
            <a:r>
              <a:rPr lang="en-US" dirty="0">
                <a:effectLst/>
                <a:latin typeface="Consolas" panose="020B0609020204030204" pitchFamily="49" charset="0"/>
              </a:rPr>
              <a:t>Specifies the runtime environment for a program and defines the input and output resources it will use</a:t>
            </a:r>
          </a:p>
          <a:p>
            <a:r>
              <a:rPr lang="en-PH" dirty="0">
                <a:effectLst/>
                <a:latin typeface="Consolas" panose="020B0609020204030204" pitchFamily="49" charset="0"/>
              </a:rPr>
              <a:t>Subdivided into two sections:</a:t>
            </a:r>
          </a:p>
          <a:p>
            <a:pPr marL="907200" lvl="1" indent="-457200">
              <a:buFont typeface="+mj-lt"/>
              <a:buAutoNum type="arabicPeriod"/>
            </a:pPr>
            <a:r>
              <a:rPr lang="en-PH" dirty="0">
                <a:effectLst/>
                <a:latin typeface="Consolas" panose="020B0609020204030204" pitchFamily="49" charset="0"/>
              </a:rPr>
              <a:t>Configuration Section (Obsolete)</a:t>
            </a:r>
          </a:p>
          <a:p>
            <a:pPr marL="1213200" lvl="2" indent="-457200"/>
            <a:r>
              <a:rPr lang="en-US" dirty="0">
                <a:effectLst/>
                <a:latin typeface="Consolas" panose="020B0609020204030204" pitchFamily="49" charset="0"/>
              </a:rPr>
              <a:t>provides information about the system configuration, including the computer and compiler features it’s using</a:t>
            </a:r>
            <a:endParaRPr lang="en-PH" dirty="0">
              <a:effectLst/>
              <a:latin typeface="Consolas" panose="020B0609020204030204" pitchFamily="49" charset="0"/>
            </a:endParaRPr>
          </a:p>
          <a:p>
            <a:pPr marL="907200" lvl="1" indent="-457200">
              <a:buFont typeface="+mj-lt"/>
              <a:buAutoNum type="arabicPeriod"/>
            </a:pPr>
            <a:r>
              <a:rPr lang="en-PH" dirty="0">
                <a:effectLst/>
                <a:latin typeface="Consolas" panose="020B0609020204030204" pitchFamily="49" charset="0"/>
              </a:rPr>
              <a:t>Input-Output Section</a:t>
            </a:r>
          </a:p>
          <a:p>
            <a:pPr marL="1213200" lvl="2" indent="-457200"/>
            <a:r>
              <a:rPr lang="en-US" dirty="0">
                <a:effectLst/>
                <a:latin typeface="Consolas" panose="020B0609020204030204" pitchFamily="49" charset="0"/>
              </a:rPr>
              <a:t>specifies the files and associated devices that the program can interact with</a:t>
            </a:r>
          </a:p>
          <a:p>
            <a:pPr marL="1213200" lvl="2" indent="-457200"/>
            <a:r>
              <a:rPr lang="en-US" dirty="0">
                <a:effectLst/>
                <a:latin typeface="Consolas" panose="020B0609020204030204" pitchFamily="49" charset="0"/>
              </a:rPr>
              <a:t>includes the FILE-CONTROL paragraph and the I-O-CONTROL paragraph</a:t>
            </a:r>
          </a:p>
        </p:txBody>
      </p:sp>
    </p:spTree>
    <p:extLst>
      <p:ext uri="{BB962C8B-B14F-4D97-AF65-F5344CB8AC3E}">
        <p14:creationId xmlns:p14="http://schemas.microsoft.com/office/powerpoint/2010/main" val="8157106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ABAF03CE-F2A8-C3D8-FC2B-5B3C17A06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5E12125-FEDF-A471-111F-8AC37CE3F0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54CB5E9-29E6-C6FA-5CA0-BE7A738C13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Data</a:t>
            </a:r>
            <a:br>
              <a:rPr lang="en-PH" sz="3600" dirty="0">
                <a:latin typeface="Consolas" panose="020B0609020204030204" pitchFamily="49" charset="0"/>
              </a:rPr>
            </a:br>
            <a:r>
              <a:rPr lang="en-PH" sz="3600" dirty="0">
                <a:latin typeface="Consolas" panose="020B0609020204030204" pitchFamily="49" charset="0"/>
              </a:rPr>
              <a:t>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11CDD856-9DA2-88C2-78F6-9BC606C36D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CECB615-B241-8EC6-BFE9-F919710CE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05398" y="1115568"/>
            <a:ext cx="6245352" cy="4626864"/>
          </a:xfrm>
        </p:spPr>
        <p:txBody>
          <a:bodyPr anchor="ctr">
            <a:normAutofit/>
          </a:bodyPr>
          <a:lstStyle/>
          <a:p>
            <a:pPr lvl="1"/>
            <a:r>
              <a:rPr lang="en-US" dirty="0">
                <a:effectLst/>
                <a:latin typeface="Consolas" panose="020B0609020204030204" pitchFamily="49" charset="0"/>
              </a:rPr>
              <a:t>Houses all variable, file and constant definitions for the program</a:t>
            </a:r>
          </a:p>
          <a:p>
            <a:pPr lvl="1"/>
            <a:r>
              <a:rPr lang="en-US" dirty="0">
                <a:effectLst/>
                <a:latin typeface="Consolas" panose="020B0609020204030204" pitchFamily="49" charset="0"/>
              </a:rPr>
              <a:t>Subdivided into four main sections:</a:t>
            </a:r>
          </a:p>
          <a:p>
            <a:pPr lvl="2"/>
            <a:r>
              <a:rPr lang="en-US" dirty="0">
                <a:effectLst/>
                <a:latin typeface="Consolas" panose="020B0609020204030204" pitchFamily="49" charset="0"/>
              </a:rPr>
              <a:t>FILE Section</a:t>
            </a:r>
          </a:p>
          <a:p>
            <a:pPr lvl="2"/>
            <a:r>
              <a:rPr lang="en-US" dirty="0">
                <a:effectLst/>
                <a:latin typeface="Consolas" panose="020B0609020204030204" pitchFamily="49" charset="0"/>
              </a:rPr>
              <a:t>WORKING-STORAGE Section</a:t>
            </a:r>
          </a:p>
          <a:p>
            <a:pPr lvl="2"/>
            <a:r>
              <a:rPr lang="en-PH" dirty="0">
                <a:latin typeface="Consolas" panose="020B0609020204030204" pitchFamily="49" charset="0"/>
              </a:rPr>
              <a:t>LOCAL-STORAGE Section</a:t>
            </a:r>
          </a:p>
          <a:p>
            <a:pPr lvl="2"/>
            <a:r>
              <a:rPr lang="en-PH" dirty="0">
                <a:latin typeface="Consolas" panose="020B0609020204030204" pitchFamily="49" charset="0"/>
              </a:rPr>
              <a:t>LINKAGE Section</a:t>
            </a:r>
          </a:p>
        </p:txBody>
      </p:sp>
    </p:spTree>
    <p:extLst>
      <p:ext uri="{BB962C8B-B14F-4D97-AF65-F5344CB8AC3E}">
        <p14:creationId xmlns:p14="http://schemas.microsoft.com/office/powerpoint/2010/main" val="65105219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C1BF783-0E6B-8F49-C0C8-4E8210E890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2FBA2CFB-2CB8-C7D6-CFB0-B33B668EA74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F54E7C1-18D8-6B1A-7A7D-32E4948D34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Data</a:t>
            </a:r>
            <a:br>
              <a:rPr lang="en-PH" sz="3600" dirty="0">
                <a:latin typeface="Consolas" panose="020B0609020204030204" pitchFamily="49" charset="0"/>
              </a:rPr>
            </a:br>
            <a:r>
              <a:rPr lang="en-PH" sz="3600" dirty="0">
                <a:latin typeface="Consolas" panose="020B0609020204030204" pitchFamily="49" charset="0"/>
              </a:rPr>
              <a:t>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90AD1E75-F79E-7D22-DD88-F7411FFB08D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A146A6-A297-EBF6-55BB-707AD3AEE4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582" y="969264"/>
            <a:ext cx="6245352" cy="4919472"/>
          </a:xfrm>
        </p:spPr>
        <p:txBody>
          <a:bodyPr anchor="ctr">
            <a:normAutofit lnSpcReduction="10000"/>
          </a:bodyPr>
          <a:lstStyle/>
          <a:p>
            <a:pPr lvl="1"/>
            <a:r>
              <a:rPr lang="en-PH" dirty="0">
                <a:effectLst/>
                <a:latin typeface="Consolas" panose="020B0609020204030204" pitchFamily="49" charset="0"/>
              </a:rPr>
              <a:t>FILE SECTION - </a:t>
            </a:r>
            <a:r>
              <a:rPr lang="en-US" dirty="0">
                <a:effectLst/>
                <a:latin typeface="Consolas" panose="020B0609020204030204" pitchFamily="49" charset="0"/>
              </a:rPr>
              <a:t>lists every file that the program will read from or write to</a:t>
            </a:r>
          </a:p>
          <a:p>
            <a:pPr lvl="1"/>
            <a:r>
              <a:rPr lang="en-US" dirty="0">
                <a:effectLst/>
                <a:latin typeface="Consolas" panose="020B0609020204030204" pitchFamily="49" charset="0"/>
              </a:rPr>
              <a:t>WORKING-STORAGE SECTION - defines variables that maintain their values throughout the run of the program</a:t>
            </a:r>
          </a:p>
          <a:p>
            <a:pPr lvl="1"/>
            <a:r>
              <a:rPr lang="en-US" dirty="0">
                <a:effectLst/>
                <a:latin typeface="Consolas" panose="020B0609020204030204" pitchFamily="49" charset="0"/>
              </a:rPr>
              <a:t>LOCAL-STORAGE SECTION - defines variables allocated upon deployment of the program or method and deallocated upon termination; useful for recursive algorithms and reentrant programs</a:t>
            </a:r>
          </a:p>
          <a:p>
            <a:pPr lvl="1"/>
            <a:r>
              <a:rPr lang="en-US" dirty="0">
                <a:effectLst/>
                <a:latin typeface="Consolas" panose="020B0609020204030204" pitchFamily="49" charset="0"/>
              </a:rPr>
              <a:t>LINKAGE SECTION - defines data items that pass from one program to another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203357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A2E1D45-1DA0-E53A-F5DA-7B8365E542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5C19C5A8-0D0E-2A43-AAA8-04E5069F6F7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7CCA2F2-9D78-77F6-9CF9-AC253829D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4013" y="1115568"/>
            <a:ext cx="3487616" cy="4626864"/>
          </a:xfrm>
        </p:spPr>
        <p:txBody>
          <a:bodyPr>
            <a:normAutofit/>
          </a:bodyPr>
          <a:lstStyle/>
          <a:p>
            <a:pPr algn="l"/>
            <a:r>
              <a:rPr lang="en-PH" sz="3600" dirty="0">
                <a:latin typeface="Consolas" panose="020B0609020204030204" pitchFamily="49" charset="0"/>
              </a:rPr>
              <a:t>Procedure</a:t>
            </a:r>
            <a:br>
              <a:rPr lang="en-PH" sz="3600" dirty="0">
                <a:latin typeface="Consolas" panose="020B0609020204030204" pitchFamily="49" charset="0"/>
              </a:rPr>
            </a:br>
            <a:r>
              <a:rPr lang="en-PH" sz="3600" dirty="0">
                <a:latin typeface="Consolas" panose="020B0609020204030204" pitchFamily="49" charset="0"/>
              </a:rPr>
              <a:t>Division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37072E-2D84-1A7D-0ED4-8C17BAE727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4654605" y="2057400"/>
            <a:ext cx="0" cy="2743200"/>
          </a:xfrm>
          <a:prstGeom prst="line">
            <a:avLst/>
          </a:prstGeom>
          <a:ln w="19050"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F6C34-5E24-C118-A90C-D83763A91C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987582" y="969264"/>
            <a:ext cx="6245352" cy="4919472"/>
          </a:xfrm>
        </p:spPr>
        <p:txBody>
          <a:bodyPr anchor="ctr">
            <a:normAutofit/>
          </a:bodyPr>
          <a:lstStyle/>
          <a:p>
            <a:pPr lvl="1"/>
            <a:r>
              <a:rPr lang="en-US" dirty="0">
                <a:effectLst/>
                <a:latin typeface="Consolas" panose="020B0609020204030204" pitchFamily="49" charset="0"/>
              </a:rPr>
              <a:t>contains the executable code of the program, that is divided into paragraphs and sections that structure the code into code blocks for better readability and easier maintenance</a:t>
            </a:r>
            <a:endParaRPr lang="en-PH" dirty="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4671654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rotWithShape="1">
          <a:blip r:embed="rId2">
            <a:duotone>
              <a:schemeClr val="bg1">
                <a:shade val="80000"/>
                <a:lumMod val="80000"/>
              </a:schemeClr>
              <a:schemeClr val="bg1">
                <a:tint val="98000"/>
              </a:schemeClr>
            </a:duotone>
          </a:blip>
          <a:stretch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76AAB769-9635-4A0E-8861-BB3FE8396E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892C1E7-D38F-04A9-EEF1-C73E06D5A8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715299" y="2617381"/>
            <a:ext cx="5441285" cy="1623238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4400" dirty="0">
                <a:latin typeface="Consolas" panose="020B0609020204030204" pitchFamily="49" charset="0"/>
              </a:rPr>
              <a:t>Variable</a:t>
            </a:r>
            <a:r>
              <a:rPr lang="en-US" sz="3600" dirty="0">
                <a:latin typeface="Consolas" panose="020B0609020204030204" pitchFamily="49" charset="0"/>
              </a:rPr>
              <a:t> </a:t>
            </a:r>
            <a:r>
              <a:rPr lang="en-US" sz="4400" dirty="0">
                <a:latin typeface="Consolas" panose="020B0609020204030204" pitchFamily="49" charset="0"/>
              </a:rPr>
              <a:t>Declaration</a:t>
            </a:r>
            <a:endParaRPr lang="en-US" sz="3600" dirty="0">
              <a:latin typeface="Consolas" panose="020B0609020204030204" pitchFamily="49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BF7BBCC-A085-493E-83D9-01D4F8E8892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964" r="2807" b="1446"/>
          <a:stretch/>
        </p:blipFill>
        <p:spPr>
          <a:xfrm>
            <a:off x="-10649" y="1"/>
            <a:ext cx="4690532" cy="6858000"/>
          </a:xfrm>
          <a:prstGeom prst="rect">
            <a:avLst/>
          </a:prstGeom>
        </p:spPr>
      </p:pic>
      <p:pic>
        <p:nvPicPr>
          <p:cNvPr id="5" name="Picture 4" descr="Autoradiogram on white paper">
            <a:extLst>
              <a:ext uri="{FF2B5EF4-FFF2-40B4-BE49-F238E27FC236}">
                <a16:creationId xmlns:a16="http://schemas.microsoft.com/office/drawing/2014/main" id="{7B700904-2DD5-7495-938C-72FD6C8741F2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l="29180" r="20824"/>
          <a:stretch>
            <a:fillRect/>
          </a:stretch>
        </p:blipFill>
        <p:spPr>
          <a:xfrm>
            <a:off x="20" y="10"/>
            <a:ext cx="4679863" cy="68579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68744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SlateVTI">
  <a:themeElements>
    <a:clrScheme name="Custom 35">
      <a:dk1>
        <a:sysClr val="windowText" lastClr="000000"/>
      </a:dk1>
      <a:lt1>
        <a:sysClr val="window" lastClr="FFFFFF"/>
      </a:lt1>
      <a:dk2>
        <a:srgbClr val="4E3B30"/>
      </a:dk2>
      <a:lt2>
        <a:srgbClr val="F4EDD8"/>
      </a:lt2>
      <a:accent1>
        <a:srgbClr val="F0A22E"/>
      </a:accent1>
      <a:accent2>
        <a:srgbClr val="A5644E"/>
      </a:accent2>
      <a:accent3>
        <a:srgbClr val="B58B80"/>
      </a:accent3>
      <a:accent4>
        <a:srgbClr val="C3986D"/>
      </a:accent4>
      <a:accent5>
        <a:srgbClr val="A19574"/>
      </a:accent5>
      <a:accent6>
        <a:srgbClr val="C17529"/>
      </a:accent6>
      <a:hlink>
        <a:srgbClr val="AD1F1F"/>
      </a:hlink>
      <a:folHlink>
        <a:srgbClr val="FFC42F"/>
      </a:folHlink>
    </a:clrScheme>
    <a:fontScheme name="Custom 4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Slate">
      <a:fillStyleLst>
        <a:solidFill>
          <a:schemeClr val="phClr"/>
        </a:solidFill>
        <a:gradFill rotWithShape="1">
          <a:gsLst>
            <a:gs pos="0">
              <a:schemeClr val="phClr">
                <a:tint val="60000"/>
                <a:lumMod val="110000"/>
              </a:schemeClr>
            </a:gs>
            <a:gs pos="100000">
              <a:schemeClr val="phClr">
                <a:tint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0000"/>
                <a:lumMod val="90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63500" dist="25400" dir="5400000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76200" dist="38100" dir="5400000" rotWithShape="0">
              <a:srgbClr val="000000">
                <a:alpha val="7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 prst="hardEdge"/>
          </a:sp3d>
        </a:effectStyle>
      </a:effectStyleLst>
      <a:bgFillStyleLst>
        <a:solidFill>
          <a:schemeClr val="phClr"/>
        </a:solidFill>
        <a:solidFill>
          <a:schemeClr val="phClr"/>
        </a:solidFill>
        <a:blipFill rotWithShape="1">
          <a:blip xmlns:r="http://schemas.openxmlformats.org/officeDocument/2006/relationships" r:embed="rId1">
            <a:duotone>
              <a:schemeClr val="phClr">
                <a:shade val="80000"/>
                <a:lumMod val="80000"/>
              </a:schemeClr>
              <a:schemeClr val="phClr">
                <a:tint val="98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ateVTI" id="{35C4A07C-0176-4A32-9BCB-B016516853F0}" vid="{9B70D35C-BCA8-4715-BB49-8BE54A7FC07C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ppt/theme/themeOverride2.xml><?xml version="1.0" encoding="utf-8"?>
<a:themeOverride xmlns:a="http://schemas.openxmlformats.org/drawingml/2006/main">
  <a:clrScheme name="Green">
    <a:dk1>
      <a:sysClr val="windowText" lastClr="000000"/>
    </a:dk1>
    <a:lt1>
      <a:sysClr val="window" lastClr="FFFFFF"/>
    </a:lt1>
    <a:dk2>
      <a:srgbClr val="455F51"/>
    </a:dk2>
    <a:lt2>
      <a:srgbClr val="E3DED1"/>
    </a:lt2>
    <a:accent1>
      <a:srgbClr val="549E39"/>
    </a:accent1>
    <a:accent2>
      <a:srgbClr val="8AB833"/>
    </a:accent2>
    <a:accent3>
      <a:srgbClr val="C0CF3A"/>
    </a:accent3>
    <a:accent4>
      <a:srgbClr val="029676"/>
    </a:accent4>
    <a:accent5>
      <a:srgbClr val="4AB5C4"/>
    </a:accent5>
    <a:accent6>
      <a:srgbClr val="0989B1"/>
    </a:accent6>
    <a:hlink>
      <a:srgbClr val="6B9F25"/>
    </a:hlink>
    <a:folHlink>
      <a:srgbClr val="BA6906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a410dd7f93c95333ffa1b60ed6adedd1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a936d9baba76aa3866493feff160faab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0585E981-8C91-4205-A0C3-C991F42B4C9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64B270AB-C138-415C-897E-3C24487DECF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2C4C00F4-06E9-43E3-AD97-88A857CEFA82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Quadratic collection</Template>
  <TotalTime>1459</TotalTime>
  <Words>504</Words>
  <Application>Microsoft Office PowerPoint</Application>
  <PresentationFormat>Widescreen</PresentationFormat>
  <Paragraphs>56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9" baseType="lpstr">
      <vt:lpstr>Calibri</vt:lpstr>
      <vt:lpstr>Consolas</vt:lpstr>
      <vt:lpstr>Goudy Old Style</vt:lpstr>
      <vt:lpstr>Wingdings 2</vt:lpstr>
      <vt:lpstr>SlateVTI</vt:lpstr>
      <vt:lpstr>COBOL:  An Overview</vt:lpstr>
      <vt:lpstr>Contents</vt:lpstr>
      <vt:lpstr>Historical Background</vt:lpstr>
      <vt:lpstr>Historical Background</vt:lpstr>
      <vt:lpstr>Historical Background</vt:lpstr>
      <vt:lpstr>Historical Background</vt:lpstr>
      <vt:lpstr>COBOL Program Structure</vt:lpstr>
      <vt:lpstr>Program Structure</vt:lpstr>
      <vt:lpstr>Identification Division</vt:lpstr>
      <vt:lpstr>Environment Division</vt:lpstr>
      <vt:lpstr>Data Division</vt:lpstr>
      <vt:lpstr>Data Division</vt:lpstr>
      <vt:lpstr>Procedure Division</vt:lpstr>
      <vt:lpstr>Variable Declaration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Vince Jevy Tapdasan</dc:creator>
  <cp:lastModifiedBy>Vince Jevy Tapdasan</cp:lastModifiedBy>
  <cp:revision>10</cp:revision>
  <dcterms:created xsi:type="dcterms:W3CDTF">2025-11-30T11:42:54Z</dcterms:created>
  <dcterms:modified xsi:type="dcterms:W3CDTF">2025-12-03T06:50:20Z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