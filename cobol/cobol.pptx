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3"/>
  </p:notesMasterIdLst>
  <p:sldIdLst>
    <p:sldId id="278" r:id="rId5"/>
    <p:sldId id="279" r:id="rId6"/>
    <p:sldId id="284" r:id="rId7"/>
    <p:sldId id="280" r:id="rId8"/>
    <p:sldId id="281" r:id="rId9"/>
    <p:sldId id="282" r:id="rId10"/>
    <p:sldId id="283" r:id="rId11"/>
    <p:sldId id="28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0424F06-A07E-46DE-9D2E-2C7522B3CE79}">
          <p14:sldIdLst>
            <p14:sldId id="278"/>
            <p14:sldId id="279"/>
          </p14:sldIdLst>
        </p14:section>
        <p14:section name="Historical Background" id="{A7027D08-F243-4225-A04C-72E1C08F76EC}">
          <p14:sldIdLst>
            <p14:sldId id="284"/>
            <p14:sldId id="280"/>
            <p14:sldId id="281"/>
            <p14:sldId id="282"/>
          </p14:sldIdLst>
        </p14:section>
        <p14:section name="Program Structure" id="{A462004D-8876-4507-9076-ABCD9BA00CF2}">
          <p14:sldIdLst>
            <p14:sldId id="283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19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12/1/2025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596724"/>
          </a:xfrm>
        </p:spPr>
        <p:txBody>
          <a:bodyPr>
            <a:normAutofit/>
          </a:bodyPr>
          <a:lstStyle/>
          <a:p>
            <a:pPr algn="l"/>
            <a:r>
              <a:rPr lang="en-US" sz="4000" dirty="0"/>
              <a:t>COBOL: </a:t>
            </a:r>
            <a:br>
              <a:rPr lang="en-US" sz="4000" dirty="0"/>
            </a:br>
            <a:r>
              <a:rPr lang="en-US" sz="4000" dirty="0"/>
              <a:t>An Overview</a:t>
            </a: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3" y="10"/>
            <a:ext cx="6265647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US" sz="4000" dirty="0"/>
              <a:t>Contents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 marL="36900" lvl="0" indent="0">
              <a:buNone/>
            </a:pPr>
            <a:r>
              <a:rPr lang="en-US" sz="2400" dirty="0"/>
              <a:t>Historical Background of COBOL</a:t>
            </a:r>
          </a:p>
          <a:p>
            <a:pPr marL="36900" lvl="0" indent="0">
              <a:buNone/>
            </a:pPr>
            <a:r>
              <a:rPr lang="en-US" sz="2400" dirty="0"/>
              <a:t>COBOL Program Structure</a:t>
            </a:r>
          </a:p>
          <a:p>
            <a:pPr marL="36900" lvl="0" indent="0">
              <a:buNone/>
            </a:pPr>
            <a:r>
              <a:rPr lang="en-US" sz="2400" dirty="0"/>
              <a:t>Explanation of Solution Code (Stack Implementation)</a:t>
            </a:r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D32A07D-C646-4CC0-BA93-76707E70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86A80-B332-7A3B-B494-D40AC4A8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7377" y="835383"/>
            <a:ext cx="3382832" cy="34995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 dirty="0"/>
              <a:t>Historical Background</a:t>
            </a:r>
          </a:p>
        </p:txBody>
      </p:sp>
      <p:pic>
        <p:nvPicPr>
          <p:cNvPr id="5" name="Picture 4" descr="A gold mandala on a red background">
            <a:extLst>
              <a:ext uri="{FF2B5EF4-FFF2-40B4-BE49-F238E27FC236}">
                <a16:creationId xmlns:a16="http://schemas.microsoft.com/office/drawing/2014/main" id="{53197A5D-EFF5-21B0-657B-142CA44F95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567"/>
          <a:stretch>
            <a:fillRect/>
          </a:stretch>
        </p:blipFill>
        <p:spPr>
          <a:xfrm>
            <a:off x="-1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03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The Legacy of Grace Hopper - Stories - Vassar College">
            <a:extLst>
              <a:ext uri="{FF2B5EF4-FFF2-40B4-BE49-F238E27FC236}">
                <a16:creationId xmlns:a16="http://schemas.microsoft.com/office/drawing/2014/main" id="{BB48FEAB-07E7-EA0A-2712-ECC0E697A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0283"/>
          <a:stretch>
            <a:fillRect/>
          </a:stretch>
        </p:blipFill>
        <p:spPr bwMode="auto">
          <a:xfrm>
            <a:off x="-8622" y="10"/>
            <a:ext cx="609600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035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4E8FFA-2B36-BC76-EDE2-508CA4FCA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PH" sz="3200" dirty="0"/>
              <a:t>Historical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23ED3-87C1-4A6D-86BC-5C050FF98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2" y="1732449"/>
            <a:ext cx="4538124" cy="4515951"/>
          </a:xfrm>
        </p:spPr>
        <p:txBody>
          <a:bodyPr anchor="t">
            <a:normAutofit/>
          </a:bodyPr>
          <a:lstStyle/>
          <a:p>
            <a:r>
              <a:rPr lang="en-US" sz="1800" dirty="0">
                <a:effectLst/>
              </a:rPr>
              <a:t>COBOL was developed by the Conference on Data Systems Languages (CODASYL), which formed in 1959. </a:t>
            </a:r>
          </a:p>
          <a:p>
            <a:r>
              <a:rPr lang="en-US" sz="1800" dirty="0">
                <a:effectLst/>
              </a:rPr>
              <a:t>Was partly derived from FLOW-MATIC, the first data-processing language to use English-like keywords</a:t>
            </a:r>
          </a:p>
          <a:p>
            <a:r>
              <a:rPr lang="en-US" sz="1800" dirty="0">
                <a:effectLst/>
              </a:rPr>
              <a:t>Created by computer science pioneer Dr. Grace Hopper, COBOL was created as part of a US Department of Defense initiative pushing for a programming language that could work across operating systems and hardware environments.</a:t>
            </a:r>
            <a:endParaRPr lang="en-PH" sz="1800" dirty="0"/>
          </a:p>
        </p:txBody>
      </p:sp>
    </p:spTree>
    <p:extLst>
      <p:ext uri="{BB962C8B-B14F-4D97-AF65-F5344CB8AC3E}">
        <p14:creationId xmlns:p14="http://schemas.microsoft.com/office/powerpoint/2010/main" val="2213618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3ABDC6-9398-F586-E25A-3D0DC7BA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E61CEF-2272-F45C-1EE0-75AF81F7F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516C5-B0F7-44D4-D7CB-60285D7E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The first version of the COBOL programming language was released in 1960</a:t>
            </a:r>
          </a:p>
          <a:p>
            <a:r>
              <a:rPr lang="en-US" dirty="0">
                <a:effectLst/>
              </a:rPr>
              <a:t>It was ultimately standardized as a computer language in 1968 (ISO/IEC 1989). </a:t>
            </a:r>
          </a:p>
          <a:p>
            <a:r>
              <a:rPr lang="en-US" dirty="0">
                <a:effectLst/>
              </a:rPr>
              <a:t>Implemented several revisions and modernizations, including COBOL-61, COBOL-68, COBOL-74 and COBOL-85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75053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84CA6-3EF1-7ED1-4E5F-68D3131A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255F579-B5A9-C6BE-764A-ABABEDFEE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3B899E-72DF-53D9-896F-C7464EEA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/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B7F59F5B-CC66-ACB6-61CD-1A08DF24D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F1F74-0A65-0F26-6799-A33F48887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</a:rPr>
              <a:t>COBOL 2002 aimed to make COBOL applications more compatible with modern software development practices by introducing object-oriented features</a:t>
            </a:r>
          </a:p>
          <a:p>
            <a:r>
              <a:rPr lang="en-US" dirty="0">
                <a:effectLst/>
              </a:rPr>
              <a:t>COBOL 14 introduced new changes, including replacing portable arithmetic results with </a:t>
            </a:r>
            <a:r>
              <a:rPr lang="en-US" u="sng" dirty="0">
                <a:effectLst/>
              </a:rPr>
              <a:t>IEEE 754</a:t>
            </a:r>
            <a:r>
              <a:rPr lang="en-US" dirty="0">
                <a:effectLst/>
              </a:rPr>
              <a:t> data types</a:t>
            </a:r>
          </a:p>
          <a:p>
            <a:r>
              <a:rPr lang="en-US" dirty="0">
                <a:effectLst/>
              </a:rPr>
              <a:t>The latest standard, COBOL 2023, delivered additional new features focused on improving COBOL's interoperability with modern systems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532603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766CDA4A-6CAA-4FED-A424-FF9D363E9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5DA5DA-6F90-88EC-E73A-7C033C895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693" y="4435229"/>
            <a:ext cx="9440034" cy="10596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COBOL Program Structure</a:t>
            </a:r>
          </a:p>
        </p:txBody>
      </p: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9B0DB875-49E3-4B9D-8AAE-D81A127B6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pic>
        <p:nvPicPr>
          <p:cNvPr id="1026" name="Picture 2" descr="7 cobol examples with explanations. | by Yvan Scher | Medium">
            <a:extLst>
              <a:ext uri="{FF2B5EF4-FFF2-40B4-BE49-F238E27FC236}">
                <a16:creationId xmlns:a16="http://schemas.microsoft.com/office/drawing/2014/main" id="{CD6913E6-BCB4-CB8E-A9F1-73FDF94DE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8" r="-1" b="17288"/>
          <a:stretch>
            <a:fillRect/>
          </a:stretch>
        </p:blipFill>
        <p:spPr bwMode="auto">
          <a:xfrm>
            <a:off x="1169349" y="695008"/>
            <a:ext cx="9845346" cy="352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196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761467-7640-47B1-90D4-04ADAD632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38B1503-6FE9-46B4-9354-E943D91B1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05514" y="-2"/>
            <a:ext cx="8386486" cy="6858002"/>
          </a:xfrm>
          <a:custGeom>
            <a:avLst/>
            <a:gdLst>
              <a:gd name="connsiteX0" fmla="*/ 0 w 6088489"/>
              <a:gd name="connsiteY0" fmla="*/ 0 h 6858002"/>
              <a:gd name="connsiteX1" fmla="*/ 3563332 w 6088489"/>
              <a:gd name="connsiteY1" fmla="*/ 0 h 6858002"/>
              <a:gd name="connsiteX2" fmla="*/ 3563332 w 6088489"/>
              <a:gd name="connsiteY2" fmla="*/ 3 h 6858002"/>
              <a:gd name="connsiteX3" fmla="*/ 5842099 w 6088489"/>
              <a:gd name="connsiteY3" fmla="*/ 3 h 6858002"/>
              <a:gd name="connsiteX4" fmla="*/ 5842099 w 6088489"/>
              <a:gd name="connsiteY4" fmla="*/ 4 h 6858002"/>
              <a:gd name="connsiteX5" fmla="*/ 5835346 w 6088489"/>
              <a:gd name="connsiteY5" fmla="*/ 4 h 6858002"/>
              <a:gd name="connsiteX6" fmla="*/ 5841229 w 6088489"/>
              <a:gd name="connsiteY6" fmla="*/ 40466 h 6858002"/>
              <a:gd name="connsiteX7" fmla="*/ 5858543 w 6088489"/>
              <a:gd name="connsiteY7" fmla="*/ 159110 h 6858002"/>
              <a:gd name="connsiteX8" fmla="*/ 5870645 w 6088489"/>
              <a:gd name="connsiteY8" fmla="*/ 245521 h 6858002"/>
              <a:gd name="connsiteX9" fmla="*/ 5883420 w 6088489"/>
              <a:gd name="connsiteY9" fmla="*/ 348391 h 6858002"/>
              <a:gd name="connsiteX10" fmla="*/ 5898716 w 6088489"/>
              <a:gd name="connsiteY10" fmla="*/ 470463 h 6858002"/>
              <a:gd name="connsiteX11" fmla="*/ 5914853 w 6088489"/>
              <a:gd name="connsiteY11" fmla="*/ 605566 h 6858002"/>
              <a:gd name="connsiteX12" fmla="*/ 5931830 w 6088489"/>
              <a:gd name="connsiteY12" fmla="*/ 757813 h 6858002"/>
              <a:gd name="connsiteX13" fmla="*/ 5949815 w 6088489"/>
              <a:gd name="connsiteY13" fmla="*/ 923777 h 6858002"/>
              <a:gd name="connsiteX14" fmla="*/ 5967801 w 6088489"/>
              <a:gd name="connsiteY14" fmla="*/ 1104142 h 6858002"/>
              <a:gd name="connsiteX15" fmla="*/ 5986122 w 6088489"/>
              <a:gd name="connsiteY15" fmla="*/ 1296166 h 6858002"/>
              <a:gd name="connsiteX16" fmla="*/ 6003099 w 6088489"/>
              <a:gd name="connsiteY16" fmla="*/ 1503278 h 6858002"/>
              <a:gd name="connsiteX17" fmla="*/ 6019404 w 6088489"/>
              <a:gd name="connsiteY17" fmla="*/ 1719991 h 6858002"/>
              <a:gd name="connsiteX18" fmla="*/ 6034196 w 6088489"/>
              <a:gd name="connsiteY18" fmla="*/ 1949048 h 6858002"/>
              <a:gd name="connsiteX19" fmla="*/ 6048315 w 6088489"/>
              <a:gd name="connsiteY19" fmla="*/ 2187706 h 6858002"/>
              <a:gd name="connsiteX20" fmla="*/ 6061595 w 6088489"/>
              <a:gd name="connsiteY20" fmla="*/ 2436652 h 6858002"/>
              <a:gd name="connsiteX21" fmla="*/ 6066301 w 6088489"/>
              <a:gd name="connsiteY21" fmla="*/ 2564211 h 6858002"/>
              <a:gd name="connsiteX22" fmla="*/ 6071512 w 6088489"/>
              <a:gd name="connsiteY22" fmla="*/ 2694512 h 6858002"/>
              <a:gd name="connsiteX23" fmla="*/ 6076386 w 6088489"/>
              <a:gd name="connsiteY23" fmla="*/ 2826871 h 6858002"/>
              <a:gd name="connsiteX24" fmla="*/ 6079580 w 6088489"/>
              <a:gd name="connsiteY24" fmla="*/ 2959917 h 6858002"/>
              <a:gd name="connsiteX25" fmla="*/ 6082438 w 6088489"/>
              <a:gd name="connsiteY25" fmla="*/ 3095705 h 6858002"/>
              <a:gd name="connsiteX26" fmla="*/ 6085463 w 6088489"/>
              <a:gd name="connsiteY26" fmla="*/ 3232865 h 6858002"/>
              <a:gd name="connsiteX27" fmla="*/ 6087480 w 6088489"/>
              <a:gd name="connsiteY27" fmla="*/ 3372768 h 6858002"/>
              <a:gd name="connsiteX28" fmla="*/ 6087480 w 6088489"/>
              <a:gd name="connsiteY28" fmla="*/ 3514043 h 6858002"/>
              <a:gd name="connsiteX29" fmla="*/ 6088489 w 6088489"/>
              <a:gd name="connsiteY29" fmla="*/ 3656689 h 6858002"/>
              <a:gd name="connsiteX30" fmla="*/ 6087480 w 6088489"/>
              <a:gd name="connsiteY30" fmla="*/ 3800707 h 6858002"/>
              <a:gd name="connsiteX31" fmla="*/ 6085463 w 6088489"/>
              <a:gd name="connsiteY31" fmla="*/ 3946783 h 6858002"/>
              <a:gd name="connsiteX32" fmla="*/ 6083614 w 6088489"/>
              <a:gd name="connsiteY32" fmla="*/ 4092858 h 6858002"/>
              <a:gd name="connsiteX33" fmla="*/ 6079580 w 6088489"/>
              <a:gd name="connsiteY33" fmla="*/ 4240991 h 6858002"/>
              <a:gd name="connsiteX34" fmla="*/ 6075378 w 6088489"/>
              <a:gd name="connsiteY34" fmla="*/ 4390495 h 6858002"/>
              <a:gd name="connsiteX35" fmla="*/ 6070503 w 6088489"/>
              <a:gd name="connsiteY35" fmla="*/ 4540000 h 6858002"/>
              <a:gd name="connsiteX36" fmla="*/ 6063612 w 6088489"/>
              <a:gd name="connsiteY36" fmla="*/ 4690876 h 6858002"/>
              <a:gd name="connsiteX37" fmla="*/ 6055375 w 6088489"/>
              <a:gd name="connsiteY37" fmla="*/ 4843123 h 6858002"/>
              <a:gd name="connsiteX38" fmla="*/ 6047475 w 6088489"/>
              <a:gd name="connsiteY38" fmla="*/ 4996057 h 6858002"/>
              <a:gd name="connsiteX39" fmla="*/ 6037390 w 6088489"/>
              <a:gd name="connsiteY39" fmla="*/ 5148990 h 6858002"/>
              <a:gd name="connsiteX40" fmla="*/ 6025287 w 6088489"/>
              <a:gd name="connsiteY40" fmla="*/ 5303981 h 6858002"/>
              <a:gd name="connsiteX41" fmla="*/ 6013185 w 6088489"/>
              <a:gd name="connsiteY41" fmla="*/ 5456914 h 6858002"/>
              <a:gd name="connsiteX42" fmla="*/ 5999233 w 6088489"/>
              <a:gd name="connsiteY42" fmla="*/ 5612591 h 6858002"/>
              <a:gd name="connsiteX43" fmla="*/ 5983937 w 6088489"/>
              <a:gd name="connsiteY43" fmla="*/ 5768953 h 6858002"/>
              <a:gd name="connsiteX44" fmla="*/ 5967801 w 6088489"/>
              <a:gd name="connsiteY44" fmla="*/ 5923258 h 6858002"/>
              <a:gd name="connsiteX45" fmla="*/ 5948975 w 6088489"/>
              <a:gd name="connsiteY45" fmla="*/ 6079621 h 6858002"/>
              <a:gd name="connsiteX46" fmla="*/ 5928804 w 6088489"/>
              <a:gd name="connsiteY46" fmla="*/ 6235297 h 6858002"/>
              <a:gd name="connsiteX47" fmla="*/ 5908801 w 6088489"/>
              <a:gd name="connsiteY47" fmla="*/ 6391660 h 6858002"/>
              <a:gd name="connsiteX48" fmla="*/ 5885437 w 6088489"/>
              <a:gd name="connsiteY48" fmla="*/ 6547336 h 6858002"/>
              <a:gd name="connsiteX49" fmla="*/ 5861568 w 6088489"/>
              <a:gd name="connsiteY49" fmla="*/ 6702327 h 6858002"/>
              <a:gd name="connsiteX50" fmla="*/ 5836524 w 6088489"/>
              <a:gd name="connsiteY50" fmla="*/ 6858002 h 6858002"/>
              <a:gd name="connsiteX51" fmla="*/ 3563332 w 6088489"/>
              <a:gd name="connsiteY51" fmla="*/ 6858002 h 6858002"/>
              <a:gd name="connsiteX52" fmla="*/ 1223490 w 6088489"/>
              <a:gd name="connsiteY52" fmla="*/ 6858002 h 6858002"/>
              <a:gd name="connsiteX53" fmla="*/ 0 w 6088489"/>
              <a:gd name="connsiteY5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6088489" h="6858002">
                <a:moveTo>
                  <a:pt x="0" y="0"/>
                </a:moveTo>
                <a:lnTo>
                  <a:pt x="3563332" y="0"/>
                </a:lnTo>
                <a:lnTo>
                  <a:pt x="3563332" y="3"/>
                </a:lnTo>
                <a:lnTo>
                  <a:pt x="5842099" y="3"/>
                </a:lnTo>
                <a:lnTo>
                  <a:pt x="5842099" y="4"/>
                </a:lnTo>
                <a:lnTo>
                  <a:pt x="5835346" y="4"/>
                </a:lnTo>
                <a:lnTo>
                  <a:pt x="5841229" y="40466"/>
                </a:lnTo>
                <a:lnTo>
                  <a:pt x="5858543" y="159110"/>
                </a:lnTo>
                <a:lnTo>
                  <a:pt x="5870645" y="245521"/>
                </a:lnTo>
                <a:lnTo>
                  <a:pt x="5883420" y="348391"/>
                </a:lnTo>
                <a:lnTo>
                  <a:pt x="5898716" y="470463"/>
                </a:lnTo>
                <a:lnTo>
                  <a:pt x="5914853" y="605566"/>
                </a:lnTo>
                <a:lnTo>
                  <a:pt x="5931830" y="757813"/>
                </a:lnTo>
                <a:lnTo>
                  <a:pt x="5949815" y="923777"/>
                </a:lnTo>
                <a:lnTo>
                  <a:pt x="5967801" y="1104142"/>
                </a:lnTo>
                <a:lnTo>
                  <a:pt x="5986122" y="1296166"/>
                </a:lnTo>
                <a:lnTo>
                  <a:pt x="6003099" y="1503278"/>
                </a:lnTo>
                <a:lnTo>
                  <a:pt x="6019404" y="1719991"/>
                </a:lnTo>
                <a:lnTo>
                  <a:pt x="6034196" y="1949048"/>
                </a:lnTo>
                <a:lnTo>
                  <a:pt x="6048315" y="2187706"/>
                </a:lnTo>
                <a:lnTo>
                  <a:pt x="6061595" y="2436652"/>
                </a:lnTo>
                <a:lnTo>
                  <a:pt x="6066301" y="2564211"/>
                </a:lnTo>
                <a:lnTo>
                  <a:pt x="6071512" y="2694512"/>
                </a:lnTo>
                <a:lnTo>
                  <a:pt x="6076386" y="2826871"/>
                </a:lnTo>
                <a:lnTo>
                  <a:pt x="6079580" y="2959917"/>
                </a:lnTo>
                <a:lnTo>
                  <a:pt x="6082438" y="3095705"/>
                </a:lnTo>
                <a:lnTo>
                  <a:pt x="6085463" y="3232865"/>
                </a:lnTo>
                <a:lnTo>
                  <a:pt x="6087480" y="3372768"/>
                </a:lnTo>
                <a:lnTo>
                  <a:pt x="6087480" y="3514043"/>
                </a:lnTo>
                <a:lnTo>
                  <a:pt x="6088489" y="3656689"/>
                </a:lnTo>
                <a:lnTo>
                  <a:pt x="6087480" y="3800707"/>
                </a:lnTo>
                <a:lnTo>
                  <a:pt x="6085463" y="3946783"/>
                </a:lnTo>
                <a:lnTo>
                  <a:pt x="6083614" y="4092858"/>
                </a:lnTo>
                <a:lnTo>
                  <a:pt x="6079580" y="4240991"/>
                </a:lnTo>
                <a:lnTo>
                  <a:pt x="6075378" y="4390495"/>
                </a:lnTo>
                <a:lnTo>
                  <a:pt x="6070503" y="4540000"/>
                </a:lnTo>
                <a:lnTo>
                  <a:pt x="6063612" y="4690876"/>
                </a:lnTo>
                <a:lnTo>
                  <a:pt x="6055375" y="4843123"/>
                </a:lnTo>
                <a:lnTo>
                  <a:pt x="6047475" y="4996057"/>
                </a:lnTo>
                <a:lnTo>
                  <a:pt x="6037390" y="5148990"/>
                </a:lnTo>
                <a:lnTo>
                  <a:pt x="6025287" y="5303981"/>
                </a:lnTo>
                <a:lnTo>
                  <a:pt x="6013185" y="5456914"/>
                </a:lnTo>
                <a:lnTo>
                  <a:pt x="5999233" y="5612591"/>
                </a:lnTo>
                <a:lnTo>
                  <a:pt x="5983937" y="5768953"/>
                </a:lnTo>
                <a:lnTo>
                  <a:pt x="5967801" y="5923258"/>
                </a:lnTo>
                <a:lnTo>
                  <a:pt x="5948975" y="6079621"/>
                </a:lnTo>
                <a:lnTo>
                  <a:pt x="5928804" y="6235297"/>
                </a:lnTo>
                <a:lnTo>
                  <a:pt x="5908801" y="6391660"/>
                </a:lnTo>
                <a:lnTo>
                  <a:pt x="5885437" y="6547336"/>
                </a:lnTo>
                <a:lnTo>
                  <a:pt x="5861568" y="6702327"/>
                </a:lnTo>
                <a:lnTo>
                  <a:pt x="5836524" y="6858002"/>
                </a:lnTo>
                <a:lnTo>
                  <a:pt x="3563332" y="6858002"/>
                </a:lnTo>
                <a:lnTo>
                  <a:pt x="1223490" y="6858002"/>
                </a:lnTo>
                <a:lnTo>
                  <a:pt x="0" y="6858002"/>
                </a:lnTo>
                <a:close/>
              </a:path>
            </a:pathLst>
          </a:cu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32CE53-9924-5792-2AB2-2EDF9F187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5" y="965196"/>
            <a:ext cx="6197686" cy="1371604"/>
          </a:xfrm>
        </p:spPr>
        <p:txBody>
          <a:bodyPr>
            <a:normAutofit/>
          </a:bodyPr>
          <a:lstStyle/>
          <a:p>
            <a:pPr algn="l"/>
            <a:r>
              <a:rPr lang="en-PH" dirty="0"/>
              <a:t>Program Structure</a:t>
            </a:r>
          </a:p>
        </p:txBody>
      </p:sp>
      <p:pic>
        <p:nvPicPr>
          <p:cNvPr id="7" name="Graphic 6" descr="Hierarchy">
            <a:extLst>
              <a:ext uri="{FF2B5EF4-FFF2-40B4-BE49-F238E27FC236}">
                <a16:creationId xmlns:a16="http://schemas.microsoft.com/office/drawing/2014/main" id="{CADC99EA-0C2E-2FC4-8B42-666C8B4582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332" y="2170143"/>
            <a:ext cx="2517715" cy="25177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530AC-62CF-ADA2-A55A-E0BF0303A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2336800"/>
            <a:ext cx="6470905" cy="374015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PH" sz="2000" dirty="0">
                <a:effectLst/>
              </a:rPr>
              <a:t>COBOL has a hierarchical structure that comprises divisions, sections, paragraphs, sentences, verbs and character strings.</a:t>
            </a:r>
          </a:p>
          <a:p>
            <a:pPr>
              <a:lnSpc>
                <a:spcPct val="90000"/>
              </a:lnSpc>
            </a:pPr>
            <a:r>
              <a:rPr lang="en-US" sz="2000" dirty="0">
                <a:effectLst/>
              </a:rPr>
              <a:t>The divisional nature of a COBOL system (which comprises four divisions) enables a distinct separation of concerns within COBOL programs</a:t>
            </a:r>
          </a:p>
          <a:p>
            <a:pPr>
              <a:lnSpc>
                <a:spcPct val="90000"/>
              </a:lnSpc>
            </a:pPr>
            <a:r>
              <a:rPr lang="en-US" sz="2000" dirty="0">
                <a:effectLst/>
              </a:rPr>
              <a:t>COBOL divisions are as follows: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Identification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Environment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Data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</a:rPr>
              <a:t>Procedure division</a:t>
            </a:r>
            <a:endParaRPr lang="en-PH" sz="2000" dirty="0"/>
          </a:p>
        </p:txBody>
      </p:sp>
    </p:spTree>
    <p:extLst>
      <p:ext uri="{BB962C8B-B14F-4D97-AF65-F5344CB8AC3E}">
        <p14:creationId xmlns:p14="http://schemas.microsoft.com/office/powerpoint/2010/main" val="30366486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Quadratic collection</Template>
  <TotalTime>960</TotalTime>
  <Words>255</Words>
  <Application>Microsoft Office PowerPoint</Application>
  <PresentationFormat>Widescreen</PresentationFormat>
  <Paragraphs>28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Goudy Old Style</vt:lpstr>
      <vt:lpstr>Wingdings 2</vt:lpstr>
      <vt:lpstr>SlateVTI</vt:lpstr>
      <vt:lpstr>COBOL:  An Overview</vt:lpstr>
      <vt:lpstr>Contents</vt:lpstr>
      <vt:lpstr>Historical Background</vt:lpstr>
      <vt:lpstr>Historical Background</vt:lpstr>
      <vt:lpstr>Historical Background</vt:lpstr>
      <vt:lpstr>Historical Background</vt:lpstr>
      <vt:lpstr>COBOL Program Structure</vt:lpstr>
      <vt:lpstr>Program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 Jevy Tapdasan</dc:creator>
  <cp:lastModifiedBy>Vince Jevy Tapdasan</cp:lastModifiedBy>
  <cp:revision>4</cp:revision>
  <dcterms:created xsi:type="dcterms:W3CDTF">2025-11-30T11:42:54Z</dcterms:created>
  <dcterms:modified xsi:type="dcterms:W3CDTF">2025-12-01T03:56:56Z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