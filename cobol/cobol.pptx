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1"/>
  </p:notesMasterIdLst>
  <p:sldIdLst>
    <p:sldId id="278" r:id="rId5"/>
    <p:sldId id="279" r:id="rId6"/>
    <p:sldId id="284" r:id="rId7"/>
    <p:sldId id="280" r:id="rId8"/>
    <p:sldId id="316" r:id="rId9"/>
    <p:sldId id="281" r:id="rId10"/>
    <p:sldId id="282" r:id="rId11"/>
    <p:sldId id="295" r:id="rId12"/>
    <p:sldId id="296" r:id="rId13"/>
    <p:sldId id="297" r:id="rId14"/>
    <p:sldId id="298" r:id="rId15"/>
    <p:sldId id="299" r:id="rId16"/>
    <p:sldId id="300" r:id="rId17"/>
    <p:sldId id="283" r:id="rId18"/>
    <p:sldId id="285" r:id="rId19"/>
    <p:sldId id="286" r:id="rId20"/>
    <p:sldId id="287" r:id="rId21"/>
    <p:sldId id="289" r:id="rId22"/>
    <p:sldId id="290" r:id="rId23"/>
    <p:sldId id="291" r:id="rId24"/>
    <p:sldId id="292" r:id="rId25"/>
    <p:sldId id="293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9" r:id="rId34"/>
    <p:sldId id="310" r:id="rId35"/>
    <p:sldId id="312" r:id="rId36"/>
    <p:sldId id="311" r:id="rId37"/>
    <p:sldId id="313" r:id="rId38"/>
    <p:sldId id="315" r:id="rId39"/>
    <p:sldId id="31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0424F06-A07E-46DE-9D2E-2C7522B3CE79}">
          <p14:sldIdLst>
            <p14:sldId id="278"/>
            <p14:sldId id="279"/>
          </p14:sldIdLst>
        </p14:section>
        <p14:section name="Historical Background" id="{A7027D08-F243-4225-A04C-72E1C08F76EC}">
          <p14:sldIdLst>
            <p14:sldId id="284"/>
            <p14:sldId id="280"/>
            <p14:sldId id="316"/>
            <p14:sldId id="281"/>
            <p14:sldId id="282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Program Structure" id="{A462004D-8876-4507-9076-ABCD9BA00CF2}">
          <p14:sldIdLst>
            <p14:sldId id="283"/>
            <p14:sldId id="285"/>
            <p14:sldId id="286"/>
            <p14:sldId id="287"/>
            <p14:sldId id="289"/>
            <p14:sldId id="290"/>
            <p14:sldId id="291"/>
          </p14:sldIdLst>
        </p14:section>
        <p14:section name="Variable Declaration" id="{7135EA50-8AD3-4853-AB3F-50E914C89B00}">
          <p14:sldIdLst>
            <p14:sldId id="292"/>
            <p14:sldId id="293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Solution Code" id="{27FE0AA4-6389-46B1-BB92-20E0B56ED527}">
          <p14:sldIdLst>
            <p14:sldId id="307"/>
            <p14:sldId id="309"/>
            <p14:sldId id="310"/>
            <p14:sldId id="312"/>
            <p14:sldId id="311"/>
            <p14:sldId id="313"/>
          </p14:sldIdLst>
        </p14:section>
        <p14:section name="End Section" id="{E13DD318-2C26-4EFD-8AC4-9EEB4ACF46CA}">
          <p14:sldIdLst>
            <p14:sldId id="315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google.com.ph/books?id=eig-AQAAIAAJ&amp;pg=RA3-PA63&amp;source=gbs_toc_r&amp;cad=2#v=onepage&amp;q&amp;f=false" TargetMode="External"/><Relationship Id="rId2" Type="http://schemas.openxmlformats.org/officeDocument/2006/relationships/hyperlink" Target="https://dl.acm.org/doi/10.1145/367710.36772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ooks.google.com.ph/books?id=3a6J0l1bM0QC&amp;printsec=frontcover#v=onepage&amp;q&amp;f=fals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pdf/10.1145/1387145" TargetMode="External"/><Relationship Id="rId2" Type="http://schemas.openxmlformats.org/officeDocument/2006/relationships/hyperlink" Target="https://nvlpubs.nist.gov/nistpubs/Legacy/hb/nbshandbook106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vlpubs.nist.gov/nistpubs/Legacy/FIPS/fipspub21-1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vinfo.gov/content/pkg/GOVPUB-C13-d0cd47d3539e1d225361316057506135/pdf/GOVPUB-C13-d0cd47d3539e1d225361316057506135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timthewebmaster.com/en/articles/cobol-programming-language-history/#-cobol-76" TargetMode="External"/><Relationship Id="rId2" Type="http://schemas.openxmlformats.org/officeDocument/2006/relationships/hyperlink" Target="https://www.ibm.com/think/topics/cobo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596724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Consolas" panose="020B0609020204030204" pitchFamily="49" charset="0"/>
              </a:rPr>
              <a:t>COBOL: </a:t>
            </a:r>
            <a:br>
              <a:rPr lang="en-US" sz="4000" dirty="0">
                <a:latin typeface="Consolas" panose="020B0609020204030204" pitchFamily="49" charset="0"/>
              </a:rPr>
            </a:br>
            <a:r>
              <a:rPr lang="en-US" sz="4000" dirty="0">
                <a:latin typeface="Consolas" panose="020B0609020204030204" pitchFamily="49" charset="0"/>
              </a:rPr>
              <a:t>An Overview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3" y="10"/>
            <a:ext cx="6265647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>
                <a:latin typeface="Consolas" panose="020B0609020204030204" pitchFamily="49" charset="0"/>
              </a:rPr>
              <a:t>Contents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onsolas" panose="020B0609020204030204" pitchFamily="49" charset="0"/>
              </a:rPr>
              <a:t>Historical Background of COBOL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onsolas" panose="020B0609020204030204" pitchFamily="49" charset="0"/>
              </a:rPr>
              <a:t>COBOL Program Structure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onsolas" panose="020B0609020204030204" pitchFamily="49" charset="0"/>
              </a:rPr>
              <a:t>Variable Declaration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onsolas" panose="020B0609020204030204" pitchFamily="49" charset="0"/>
              </a:rPr>
              <a:t>Explanation of Solution Code (Stack Implementation)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D32A07D-C646-4CC0-BA93-76707E70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86A80-B332-7A3B-B494-D40AC4A8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696" y="1947672"/>
            <a:ext cx="3382832" cy="165497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dirty="0">
                <a:latin typeface="Consolas" panose="020B0609020204030204" pitchFamily="49" charset="0"/>
              </a:rPr>
              <a:t>Historical Background</a:t>
            </a:r>
          </a:p>
        </p:txBody>
      </p:sp>
      <p:pic>
        <p:nvPicPr>
          <p:cNvPr id="1026" name="Picture 2" descr="COBOL - Wikipedia">
            <a:extLst>
              <a:ext uri="{FF2B5EF4-FFF2-40B4-BE49-F238E27FC236}">
                <a16:creationId xmlns:a16="http://schemas.microsoft.com/office/drawing/2014/main" id="{AE9DE027-1900-B9DC-EEFC-4614746D0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10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70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Legacy of Grace Hopper - Stories - Vassar College">
            <a:extLst>
              <a:ext uri="{FF2B5EF4-FFF2-40B4-BE49-F238E27FC236}">
                <a16:creationId xmlns:a16="http://schemas.microsoft.com/office/drawing/2014/main" id="{BB48FEAB-07E7-EA0A-2712-ECC0E697A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0283"/>
          <a:stretch>
            <a:fillRect/>
          </a:stretch>
        </p:blipFill>
        <p:spPr bwMode="auto">
          <a:xfrm>
            <a:off x="-8623" y="10"/>
            <a:ext cx="626564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035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E8FFA-2B36-BC76-EDE2-508CA4FCA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PH" sz="3200" dirty="0">
                <a:latin typeface="Consolas" panose="020B0609020204030204" pitchFamily="49" charset="0"/>
              </a:rPr>
              <a:t>Historical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23ED3-87C1-4A6D-86BC-5C050FF98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2" y="1732449"/>
            <a:ext cx="4538124" cy="4515951"/>
          </a:xfrm>
        </p:spPr>
        <p:txBody>
          <a:bodyPr anchor="t"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  <a:latin typeface="Consolas" panose="020B0609020204030204" pitchFamily="49" charset="0"/>
              </a:rPr>
              <a:t>On 8 April 1959, Mary K. Hawes, a computer scientist at Burroughs Corporation, called a meeting of representatives at the University of Pennsylvania to organize a formal meeting on common business languages.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  <a:latin typeface="Consolas" panose="020B0609020204030204" pitchFamily="49" charset="0"/>
              </a:rPr>
              <a:t>The group asked the Department of Defense to sponsor an effort to create a common business language.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  <a:latin typeface="Consolas" panose="020B0609020204030204" pitchFamily="49" charset="0"/>
              </a:rPr>
              <a:t>Charles A. Phillips, director of the Data System Research Staff at the DoD, agreed to sponsor the meeting and tasked the delegation with drafting the agenda</a:t>
            </a:r>
          </a:p>
        </p:txBody>
      </p:sp>
    </p:spTree>
    <p:extLst>
      <p:ext uri="{BB962C8B-B14F-4D97-AF65-F5344CB8AC3E}">
        <p14:creationId xmlns:p14="http://schemas.microsoft.com/office/powerpoint/2010/main" val="2213618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FB356-3B52-861A-D5C5-45B299E3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99888975-22F8-1AC5-2F4B-9330D75F4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C49BB-3F55-E993-2541-57ACBF46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Historical Background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7E1CAA73-466A-BD99-C764-605CDC74E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1AD64-7A04-FC62-3CFE-B3D60686E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onsolas" panose="020B0609020204030204" pitchFamily="49" charset="0"/>
              </a:rPr>
              <a:t>COBOL was developed by the Conference on Data Systems Languages (CODASYL), which formed in 1959.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onsolas" panose="020B0609020204030204" pitchFamily="49" charset="0"/>
              </a:rPr>
              <a:t>Was partly derived from FLOW-MATIC, the first data-processing language to use English-like keywords</a:t>
            </a:r>
          </a:p>
        </p:txBody>
      </p:sp>
    </p:spTree>
    <p:extLst>
      <p:ext uri="{BB962C8B-B14F-4D97-AF65-F5344CB8AC3E}">
        <p14:creationId xmlns:p14="http://schemas.microsoft.com/office/powerpoint/2010/main" val="2723369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ABDC6-9398-F586-E25A-3D0DC7BA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61CEF-2272-F45C-1EE0-75AF81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Historical Background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516C5-B0F7-44D4-D7CB-60285D7E0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The first version of the COBOL programming language was released in 1960 (COBOL-60)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It was ultimately standardized as a computer language in 1968 (ISO/IEC 1989).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Implemented several revisions and modernizations, including COBOL-61, COBOL-68, COBOL-74 and COBOL-85</a:t>
            </a:r>
            <a:endParaRPr lang="en-PH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5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84CA6-3EF1-7ED1-4E5F-68D3131A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9255F579-B5A9-C6BE-764A-ABABEDFEE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B899E-72DF-53D9-896F-C7464EEA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Historical Background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B7F59F5B-CC66-ACB6-61CD-1A08DF24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F1F74-0A65-0F26-6799-A33F4888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COBOL 2002 aimed to make COBOL applications more compatible with modern software development practices by introducing object-oriented features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COBOL 14 introduced new changes, including replacing portable arithmetic results with </a:t>
            </a:r>
            <a:r>
              <a:rPr lang="en-US" u="sng" dirty="0">
                <a:effectLst/>
                <a:latin typeface="Consolas" panose="020B0609020204030204" pitchFamily="49" charset="0"/>
              </a:rPr>
              <a:t>IEEE 754</a:t>
            </a:r>
            <a:r>
              <a:rPr lang="en-US" dirty="0">
                <a:effectLst/>
                <a:latin typeface="Consolas" panose="020B0609020204030204" pitchFamily="49" charset="0"/>
              </a:rPr>
              <a:t> data 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The latest standard, COBOL 2023, delivered additional new features focused on improving COBOL's interoperability with modern systems</a:t>
            </a:r>
            <a:endParaRPr lang="en-PH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0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EC58D-BFB1-944D-986C-29F14B4C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nsolas" panose="020B0609020204030204" pitchFamily="49" charset="0"/>
              </a:rPr>
              <a:t>COBOL Revisions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1ED5E6-CCBA-FE3B-704A-EB6D642EFA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0296379"/>
              </p:ext>
            </p:extLst>
          </p:nvPr>
        </p:nvGraphicFramePr>
        <p:xfrm>
          <a:off x="914400" y="2076450"/>
          <a:ext cx="10353674" cy="358368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990930062"/>
                    </a:ext>
                  </a:extLst>
                </a:gridCol>
                <a:gridCol w="7125842">
                  <a:extLst>
                    <a:ext uri="{9D8B030D-6E8A-4147-A177-3AD203B41FA5}">
                      <a16:colId xmlns:a16="http://schemas.microsoft.com/office/drawing/2014/main" val="3807724847"/>
                    </a:ext>
                  </a:extLst>
                </a:gridCol>
              </a:tblGrid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 Version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Major Change(s)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0877640"/>
                  </a:ext>
                </a:extLst>
              </a:tr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  <a:hlinkClick r:id="rId2"/>
                        </a:rPr>
                        <a:t>COBOL-61</a:t>
                      </a:r>
                      <a:endParaRPr lang="en-US" noProof="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Structural changes; more stable version of COBOL-60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9245115"/>
                  </a:ext>
                </a:extLst>
              </a:tr>
              <a:tr h="1255363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  <a:hlinkClick r:id="rId3"/>
                        </a:rPr>
                        <a:t>COBOL-61 Extended (1963)</a:t>
                      </a:r>
                      <a:endParaRPr lang="en-US" noProof="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Addition of the SORT verb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Modification of </a:t>
                      </a:r>
                      <a:r>
                        <a:rPr lang="en-US" noProof="0" dirty="0" err="1">
                          <a:latin typeface="Consolas" panose="020B0609020204030204" pitchFamily="49" charset="0"/>
                        </a:rPr>
                        <a:t>arithmetics</a:t>
                      </a:r>
                      <a:r>
                        <a:rPr lang="en-US" noProof="0" dirty="0">
                          <a:latin typeface="Consolas" panose="020B0609020204030204" pitchFamily="49" charset="0"/>
                        </a:rPr>
                        <a:t> to accommodate multiple input fields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Addition of the CORRESPONDING keyword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76533875"/>
                  </a:ext>
                </a:extLst>
              </a:tr>
              <a:tr h="1545062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  <a:hlinkClick r:id="rId4"/>
                        </a:rPr>
                        <a:t>COBOL-65</a:t>
                      </a:r>
                      <a:endParaRPr lang="en-US" noProof="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options for reading, writing, and processing of mass storage files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Addition of table handling features, including indexing and search options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Deletion of the terms REQUIRED and ELECTIVE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749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44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7E100-6AD4-DA49-579A-4F719C25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54E31-08D5-87A0-8694-61CB9844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nsolas" panose="020B0609020204030204" pitchFamily="49" charset="0"/>
              </a:rPr>
              <a:t>COBOL Revisions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A9DDF0-D42A-6EE3-7835-90319F993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4361836"/>
              </p:ext>
            </p:extLst>
          </p:nvPr>
        </p:nvGraphicFramePr>
        <p:xfrm>
          <a:off x="914400" y="2076450"/>
          <a:ext cx="10353674" cy="3658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990930062"/>
                    </a:ext>
                  </a:extLst>
                </a:gridCol>
                <a:gridCol w="7125842">
                  <a:extLst>
                    <a:ext uri="{9D8B030D-6E8A-4147-A177-3AD203B41FA5}">
                      <a16:colId xmlns:a16="http://schemas.microsoft.com/office/drawing/2014/main" val="3807724847"/>
                    </a:ext>
                  </a:extLst>
                </a:gridCol>
              </a:tblGrid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 Version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Major Change(s)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0877640"/>
                  </a:ext>
                </a:extLst>
              </a:tr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  <a:hlinkClick r:id="rId2"/>
                        </a:rPr>
                        <a:t>COBOL-68</a:t>
                      </a:r>
                      <a:r>
                        <a:rPr lang="en-US" noProof="0" dirty="0"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Introduction of ANSI COBOL (USA Standard COBOL X3.23)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inter-program communication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Elimination of type 4 abbreviations (Omission of optional keywords in statements)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Elimination of the DEFINE statement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the SUSPEND statement as additional means of controlling graphic display devices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9245115"/>
                  </a:ext>
                </a:extLst>
              </a:tr>
              <a:tr h="1255363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  <a:hlinkClick r:id="rId3"/>
                        </a:rPr>
                        <a:t>COBOL-69</a:t>
                      </a:r>
                      <a:endParaRPr lang="en-US" noProof="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deletion of the EXAMINE statement and;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the inclusion of a more powerful statement, INSPECT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the STRING and UNSTRING statements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Deletion of the CONSTANT SECTION of the Data Division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7653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93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6731-7BDD-B7F5-D158-E72BF883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3DB2-B07B-729A-E9F1-7938EC45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nsolas" panose="020B0609020204030204" pitchFamily="49" charset="0"/>
              </a:rPr>
              <a:t>COBOL Revisions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988FD6-9A7B-E198-94E8-F73259B2C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345266"/>
              </p:ext>
            </p:extLst>
          </p:nvPr>
        </p:nvGraphicFramePr>
        <p:xfrm>
          <a:off x="914400" y="2076450"/>
          <a:ext cx="10353674" cy="331771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990930062"/>
                    </a:ext>
                  </a:extLst>
                </a:gridCol>
                <a:gridCol w="7125842">
                  <a:extLst>
                    <a:ext uri="{9D8B030D-6E8A-4147-A177-3AD203B41FA5}">
                      <a16:colId xmlns:a16="http://schemas.microsoft.com/office/drawing/2014/main" val="3807724847"/>
                    </a:ext>
                  </a:extLst>
                </a:gridCol>
              </a:tblGrid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 Version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Major Change(s)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0877640"/>
                  </a:ext>
                </a:extLst>
              </a:tr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COBOL-70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the INITIALIZE statement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a debugging facility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a merge facility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Complete revision of the report writer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9245115"/>
                  </a:ext>
                </a:extLst>
              </a:tr>
              <a:tr h="1255363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  <a:hlinkClick r:id="rId2"/>
                        </a:rPr>
                        <a:t>COBOL-73</a:t>
                      </a:r>
                      <a:endParaRPr lang="en-US" noProof="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Revision and extension to the mass storage facility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Clarification and extension to the COBOL library facility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Enhancement of the INSPECT statement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Removal of the restriction on 77 level-numbers that they must precede 01 level numbers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7653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863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7A440-9864-CBD4-BD7E-8A9D44D60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5E10-9B68-2D01-8048-5A163897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nsolas" panose="020B0609020204030204" pitchFamily="49" charset="0"/>
              </a:rPr>
              <a:t>COBOL Revisions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67BED9-9DC0-D445-0109-7CDDE0424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776725"/>
              </p:ext>
            </p:extLst>
          </p:nvPr>
        </p:nvGraphicFramePr>
        <p:xfrm>
          <a:off x="914400" y="2076450"/>
          <a:ext cx="10353674" cy="331771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990930062"/>
                    </a:ext>
                  </a:extLst>
                </a:gridCol>
                <a:gridCol w="7125842">
                  <a:extLst>
                    <a:ext uri="{9D8B030D-6E8A-4147-A177-3AD203B41FA5}">
                      <a16:colId xmlns:a16="http://schemas.microsoft.com/office/drawing/2014/main" val="3807724847"/>
                    </a:ext>
                  </a:extLst>
                </a:gridCol>
              </a:tblGrid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 Version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Major Change(s)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0877640"/>
                  </a:ext>
                </a:extLst>
              </a:tr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COBOL-76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a </a:t>
                      </a:r>
                      <a:r>
                        <a:rPr lang="en-US" noProof="0" dirty="0" err="1"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en-US" noProof="0" dirty="0">
                          <a:latin typeface="Consolas" panose="020B0609020204030204" pitchFamily="49" charset="0"/>
                        </a:rPr>
                        <a:t> (bit) manipulation facility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the DELETE FILE statement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the PURGE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9245115"/>
                  </a:ext>
                </a:extLst>
              </a:tr>
              <a:tr h="1255363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COBOL-78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the ROLLBACK statement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the REPLACE statement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a data base locking facility to maintain data base integrity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an inter-program communication facility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facility to control input-output in separately compiled programs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7653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65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42865-1CDF-6454-41C0-397141D0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D313-592B-FD9C-B2D1-38437D33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nsolas" panose="020B0609020204030204" pitchFamily="49" charset="0"/>
              </a:rPr>
              <a:t>COBOL Revisions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B196F8-6939-BDE2-122E-0291C0E0B7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65490"/>
              </p:ext>
            </p:extLst>
          </p:nvPr>
        </p:nvGraphicFramePr>
        <p:xfrm>
          <a:off x="914400" y="2076450"/>
          <a:ext cx="10353674" cy="35920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990930062"/>
                    </a:ext>
                  </a:extLst>
                </a:gridCol>
                <a:gridCol w="7125842">
                  <a:extLst>
                    <a:ext uri="{9D8B030D-6E8A-4147-A177-3AD203B41FA5}">
                      <a16:colId xmlns:a16="http://schemas.microsoft.com/office/drawing/2014/main" val="3807724847"/>
                    </a:ext>
                  </a:extLst>
                </a:gridCol>
              </a:tblGrid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 Version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Major Change(s)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0877640"/>
                  </a:ext>
                </a:extLst>
              </a:tr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COBOL-80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Deletion of the DATA RECORDS clause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Deletion of the CORRESPONDING option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an EXIT PERFORM statement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Change to the CALL statement to allow languages other than COBOL to be called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Semantics for lowercase letters were defined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9245115"/>
                  </a:ext>
                </a:extLst>
              </a:tr>
              <a:tr h="1255363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  <a:hlinkClick r:id="rId2"/>
                        </a:rPr>
                        <a:t>COBOL-85</a:t>
                      </a:r>
                      <a:endParaRPr lang="en-US" noProof="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scope terminators (END-IF, END-PERFORM, END-READ)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EVALUATE statement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Inclusion of CONTINUE statement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Introduction of nested subprograms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7653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890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C56D2-C5A2-B453-E60E-9A565746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9A09-06CF-2755-DCCD-B2012B9A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nsolas" panose="020B0609020204030204" pitchFamily="49" charset="0"/>
              </a:rPr>
              <a:t>COBOL Revisions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69EF41-5115-F8C8-6A41-ED873327C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9777723"/>
              </p:ext>
            </p:extLst>
          </p:nvPr>
        </p:nvGraphicFramePr>
        <p:xfrm>
          <a:off x="914400" y="2076450"/>
          <a:ext cx="10353674" cy="368347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990930062"/>
                    </a:ext>
                  </a:extLst>
                </a:gridCol>
                <a:gridCol w="7125842">
                  <a:extLst>
                    <a:ext uri="{9D8B030D-6E8A-4147-A177-3AD203B41FA5}">
                      <a16:colId xmlns:a16="http://schemas.microsoft.com/office/drawing/2014/main" val="3807724847"/>
                    </a:ext>
                  </a:extLst>
                </a:gridCol>
              </a:tblGrid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 Version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Major Change(s)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0877640"/>
                  </a:ext>
                </a:extLst>
              </a:tr>
              <a:tr h="39163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 2002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Object-Oriented COBOL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Introduction of user-defined functions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Introduction of user-defined data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9245115"/>
                  </a:ext>
                </a:extLst>
              </a:tr>
              <a:tr h="257632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 2014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Introduction of object finalization (garbage collector)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XML processing capabilities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Dynamic memory allocation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76533875"/>
                  </a:ext>
                </a:extLst>
              </a:tr>
              <a:tr h="668312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Consolas" panose="020B0609020204030204" pitchFamily="49" charset="0"/>
                        </a:rPr>
                        <a:t>COBOL 2023 (Latest)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Asynchronous message syntax using SEND and RECEIVE statements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XOR logical operator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noProof="0" dirty="0">
                          <a:latin typeface="Consolas" panose="020B0609020204030204" pitchFamily="49" charset="0"/>
                        </a:rPr>
                        <a:t>Defined infinite loop with PERFORM UNTIL EXIT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34267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891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766CDA4A-6CAA-4FED-A424-FF9D363E9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DA5DA-6F90-88EC-E73A-7C033C895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693" y="4435229"/>
            <a:ext cx="9440034" cy="10596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latin typeface="Consolas" panose="020B0609020204030204" pitchFamily="49" charset="0"/>
              </a:rPr>
              <a:t>COBOL Program Structure</a:t>
            </a:r>
          </a:p>
        </p:txBody>
      </p:sp>
      <p:pic>
        <p:nvPicPr>
          <p:cNvPr id="1040" name="Picture 1039">
            <a:extLst>
              <a:ext uri="{FF2B5EF4-FFF2-40B4-BE49-F238E27FC236}">
                <a16:creationId xmlns:a16="http://schemas.microsoft.com/office/drawing/2014/main" id="{9B0DB875-49E3-4B9D-8AAE-D81A127B6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pic>
        <p:nvPicPr>
          <p:cNvPr id="1026" name="Picture 2" descr="7 cobol examples with explanations. | by Yvan Scher | Medium">
            <a:extLst>
              <a:ext uri="{FF2B5EF4-FFF2-40B4-BE49-F238E27FC236}">
                <a16:creationId xmlns:a16="http://schemas.microsoft.com/office/drawing/2014/main" id="{CD6913E6-BCB4-CB8E-A9F1-73FDF94D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8" r="-1" b="17288"/>
          <a:stretch>
            <a:fillRect/>
          </a:stretch>
        </p:blipFill>
        <p:spPr bwMode="auto">
          <a:xfrm>
            <a:off x="1169349" y="695008"/>
            <a:ext cx="9845346" cy="352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196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761467-7640-47B1-90D4-04ADAD632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738B1503-6FE9-46B4-9354-E943D91B1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05514" y="-2"/>
            <a:ext cx="8386486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2CE53-9924-5792-2AB2-2EDF9F187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965196"/>
            <a:ext cx="6197686" cy="1371604"/>
          </a:xfrm>
        </p:spPr>
        <p:txBody>
          <a:bodyPr>
            <a:normAutofit/>
          </a:bodyPr>
          <a:lstStyle/>
          <a:p>
            <a:pPr algn="l"/>
            <a:r>
              <a:rPr lang="en-PH" dirty="0">
                <a:latin typeface="Consolas" panose="020B0609020204030204" pitchFamily="49" charset="0"/>
              </a:rPr>
              <a:t>Program Structure</a:t>
            </a:r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CADC99EA-0C2E-2FC4-8B42-666C8B4582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332" y="2170143"/>
            <a:ext cx="2517715" cy="25177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530AC-62CF-ADA2-A55A-E0BF0303A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2336800"/>
            <a:ext cx="6470905" cy="37401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PH" sz="2000" dirty="0">
                <a:effectLst/>
                <a:latin typeface="Consolas" panose="020B0609020204030204" pitchFamily="49" charset="0"/>
              </a:rPr>
              <a:t>COBOL has a hierarchical structure that comprises divisions, sections, paragraphs, sentences, verbs and character strings.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Consolas" panose="020B0609020204030204" pitchFamily="49" charset="0"/>
              </a:rPr>
              <a:t>The divisional nature of a COBOL system (which comprises four divisions) enables a distinct separation of concerns within COBOL programs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Consolas" panose="020B0609020204030204" pitchFamily="49" charset="0"/>
              </a:rPr>
              <a:t>COBOL divisions are as follows: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Consolas" panose="020B0609020204030204" pitchFamily="49" charset="0"/>
              </a:rPr>
              <a:t>Identification division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Consolas" panose="020B0609020204030204" pitchFamily="49" charset="0"/>
              </a:rPr>
              <a:t>Environment division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Consolas" panose="020B0609020204030204" pitchFamily="49" charset="0"/>
              </a:rPr>
              <a:t>Data division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/>
                <a:latin typeface="Consolas" panose="020B0609020204030204" pitchFamily="49" charset="0"/>
              </a:rPr>
              <a:t>Procedure division</a:t>
            </a:r>
            <a:endParaRPr lang="en-PH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648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CE7B5-8275-BC21-A922-FCB459D1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16" y="1115568"/>
            <a:ext cx="3820587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Identification Division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792A7-BF81-A2CD-955E-77DD69D52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is the first division of a COBOL program, and is mandatory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assigns the program a name and provides other identification information like author, date written and a brief description of the program's purpose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COBOL programs need a PROGRAM-ID paragraph to function within the identification division</a:t>
            </a:r>
            <a:endParaRPr lang="en-PH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76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328AA-C7FC-6459-BEC0-6E30890C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Environment Division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B219-A672-A368-451B-9CBE8E238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635" y="946404"/>
            <a:ext cx="6245352" cy="4965192"/>
          </a:xfrm>
        </p:spPr>
        <p:txBody>
          <a:bodyPr anchor="ctr"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Specifies the runtime environment for a program and defines the input and output resources it will use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PH" dirty="0">
                <a:effectLst/>
                <a:latin typeface="Consolas" panose="020B0609020204030204" pitchFamily="49" charset="0"/>
              </a:rPr>
              <a:t>Subdivided into two sections: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PH" dirty="0">
                <a:effectLst/>
                <a:latin typeface="Consolas" panose="020B0609020204030204" pitchFamily="49" charset="0"/>
              </a:rPr>
              <a:t>Configuration Section (Obsolete)</a:t>
            </a:r>
          </a:p>
          <a:p>
            <a:pPr marL="1213200" lvl="2" indent="-457200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provides information about the system configuration, including the computer and compiler features it’s using</a:t>
            </a:r>
            <a:endParaRPr lang="en-PH" dirty="0">
              <a:effectLst/>
              <a:latin typeface="Consolas" panose="020B0609020204030204" pitchFamily="49" charset="0"/>
            </a:endParaRPr>
          </a:p>
          <a:p>
            <a:pPr marL="907200" lvl="1" indent="-457200">
              <a:buFont typeface="+mj-lt"/>
              <a:buAutoNum type="arabicPeriod"/>
            </a:pPr>
            <a:r>
              <a:rPr lang="en-PH" dirty="0">
                <a:effectLst/>
                <a:latin typeface="Consolas" panose="020B0609020204030204" pitchFamily="49" charset="0"/>
              </a:rPr>
              <a:t>Input-Output Section</a:t>
            </a:r>
          </a:p>
          <a:p>
            <a:pPr marL="1213200" lvl="2" indent="-457200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specifies the files and associated devices that the program can interact with</a:t>
            </a:r>
          </a:p>
          <a:p>
            <a:pPr marL="1213200" lvl="2" indent="-457200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includes the FILE-CONTROL paragraph and the I-O-CONTROL paragraph</a:t>
            </a:r>
          </a:p>
        </p:txBody>
      </p:sp>
    </p:spTree>
    <p:extLst>
      <p:ext uri="{BB962C8B-B14F-4D97-AF65-F5344CB8AC3E}">
        <p14:creationId xmlns:p14="http://schemas.microsoft.com/office/powerpoint/2010/main" val="81571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F03CE-F2A8-C3D8-FC2B-5B3C17A0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E12125-FEDF-A471-111F-8AC37CE3F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4CB5E9-29E6-C6FA-5CA0-BE7A738C1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Data</a:t>
            </a:r>
            <a:br>
              <a:rPr lang="en-PH" sz="3600" dirty="0">
                <a:latin typeface="Consolas" panose="020B0609020204030204" pitchFamily="49" charset="0"/>
              </a:rPr>
            </a:br>
            <a:r>
              <a:rPr lang="en-PH" sz="3600" dirty="0">
                <a:latin typeface="Consolas" panose="020B0609020204030204" pitchFamily="49" charset="0"/>
              </a:rPr>
              <a:t>Division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CDD856-9DA2-88C2-78F6-9BC606C36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CB615-B241-8EC6-BFE9-F919710CE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Houses all variable, file and constant definitions for the program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Subdivided into four main sections: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FILE Section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WORKING-STORAGE Section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PH" dirty="0">
                <a:latin typeface="Consolas" panose="020B0609020204030204" pitchFamily="49" charset="0"/>
              </a:rPr>
              <a:t>LOCAL-STORAGE Section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PH" dirty="0">
                <a:latin typeface="Consolas" panose="020B0609020204030204" pitchFamily="49" charset="0"/>
              </a:rPr>
              <a:t>LINKAGE Section</a:t>
            </a:r>
          </a:p>
        </p:txBody>
      </p:sp>
    </p:spTree>
    <p:extLst>
      <p:ext uri="{BB962C8B-B14F-4D97-AF65-F5344CB8AC3E}">
        <p14:creationId xmlns:p14="http://schemas.microsoft.com/office/powerpoint/2010/main" val="651052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BF783-0E6B-8F49-C0C8-4E8210E89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BA2CFB-2CB8-C7D6-CFB0-B33B668EA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4E7C1-18D8-6B1A-7A7D-32E4948D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Data</a:t>
            </a:r>
            <a:br>
              <a:rPr lang="en-PH" sz="3600" dirty="0">
                <a:latin typeface="Consolas" panose="020B0609020204030204" pitchFamily="49" charset="0"/>
              </a:rPr>
            </a:br>
            <a:r>
              <a:rPr lang="en-PH" sz="3600" dirty="0">
                <a:latin typeface="Consolas" panose="020B0609020204030204" pitchFamily="49" charset="0"/>
              </a:rPr>
              <a:t>Division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AD1E75-F79E-7D22-DD88-F7411FFB0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146A6-A297-EBF6-55BB-707AD3AEE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582" y="969264"/>
            <a:ext cx="6245352" cy="4919472"/>
          </a:xfrm>
        </p:spPr>
        <p:txBody>
          <a:bodyPr anchor="ctr">
            <a:normAutofit lnSpcReduction="10000"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PH" dirty="0">
                <a:effectLst/>
                <a:latin typeface="Consolas" panose="020B0609020204030204" pitchFamily="49" charset="0"/>
              </a:rPr>
              <a:t>FILE SECTION - </a:t>
            </a:r>
            <a:r>
              <a:rPr lang="en-US" dirty="0">
                <a:effectLst/>
                <a:latin typeface="Consolas" panose="020B0609020204030204" pitchFamily="49" charset="0"/>
              </a:rPr>
              <a:t>lists every file that the program will read from or write to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WORKING-STORAGE SECTION - defines variables that maintain their values throughout the run of the program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LOCAL-STORAGE SECTION - defines variables allocated upon deployment of the program or method and deallocated upon termination; useful for recursive algorithms and reentrant programs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LINKAGE SECTION - defines data items that pass from one program to another</a:t>
            </a:r>
            <a:endParaRPr lang="en-PH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033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E1D45-1DA0-E53A-F5DA-7B8365E5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19C5A8-0D0E-2A43-AAA8-04E5069F6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CCA2F2-9D78-77F6-9CF9-AC253829D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Procedure</a:t>
            </a:r>
            <a:br>
              <a:rPr lang="en-PH" sz="3600" dirty="0">
                <a:latin typeface="Consolas" panose="020B0609020204030204" pitchFamily="49" charset="0"/>
              </a:rPr>
            </a:br>
            <a:r>
              <a:rPr lang="en-PH" sz="3600" dirty="0">
                <a:latin typeface="Consolas" panose="020B0609020204030204" pitchFamily="49" charset="0"/>
              </a:rPr>
              <a:t>Division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37072E-2D84-1A7D-0ED4-8C17BAE72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F6C34-5E24-C118-A90C-D83763A91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582" y="969264"/>
            <a:ext cx="6245352" cy="4919472"/>
          </a:xfrm>
        </p:spPr>
        <p:txBody>
          <a:bodyPr anchor="ctr"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contains the executable code of the program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is divided into paragraphs and sections that structure the code into code blocks for better readability and easier maintenance</a:t>
            </a:r>
            <a:endParaRPr lang="en-PH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716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AAB769-9635-4A0E-8861-BB3FE8396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2C1E7-D38F-04A9-EEF1-C73E06D5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299" y="2617381"/>
            <a:ext cx="5441285" cy="16232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latin typeface="Consolas" panose="020B0609020204030204" pitchFamily="49" charset="0"/>
              </a:rPr>
              <a:t>Variable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4400" dirty="0">
                <a:latin typeface="Consolas" panose="020B0609020204030204" pitchFamily="49" charset="0"/>
              </a:rPr>
              <a:t>Declaration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F7BBCC-A085-493E-83D9-01D4F8E8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pic>
        <p:nvPicPr>
          <p:cNvPr id="5" name="Picture 4" descr="Autoradiogram on white paper">
            <a:extLst>
              <a:ext uri="{FF2B5EF4-FFF2-40B4-BE49-F238E27FC236}">
                <a16:creationId xmlns:a16="http://schemas.microsoft.com/office/drawing/2014/main" id="{7B700904-2DD5-7495-938C-72FD6C8741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80" r="20824"/>
          <a:stretch>
            <a:fillRect/>
          </a:stretch>
        </p:blipFill>
        <p:spPr>
          <a:xfrm>
            <a:off x="20" y="10"/>
            <a:ext cx="467986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7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9D21A-53CE-AAFD-2B70-425F36A5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latin typeface="Consolas" panose="020B0609020204030204" pitchFamily="49" charset="0"/>
              </a:rPr>
              <a:t>Basic Declaration Structure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C98FB4E-9BA1-1938-FC30-BA55D8F56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48" y="1866900"/>
            <a:ext cx="8986056" cy="3581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5314616-0DD9-9869-FE75-8DB4D879C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250" y="2158484"/>
            <a:ext cx="1973629" cy="1146691"/>
          </a:xfrm>
          <a:prstGeom prst="rect">
            <a:avLst/>
          </a:prstGeom>
        </p:spPr>
      </p:pic>
      <p:sp>
        <p:nvSpPr>
          <p:cNvPr id="44" name="Right Brace 43">
            <a:extLst>
              <a:ext uri="{FF2B5EF4-FFF2-40B4-BE49-F238E27FC236}">
                <a16:creationId xmlns:a16="http://schemas.microsoft.com/office/drawing/2014/main" id="{D08D3078-FB33-C0FF-F411-51F19D09B669}"/>
              </a:ext>
            </a:extLst>
          </p:cNvPr>
          <p:cNvSpPr/>
          <p:nvPr/>
        </p:nvSpPr>
        <p:spPr>
          <a:xfrm rot="16200000">
            <a:off x="8744139" y="2605498"/>
            <a:ext cx="137160" cy="1146691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E73F37-BF8C-24F2-1707-AD7E2A7C622C}"/>
              </a:ext>
            </a:extLst>
          </p:cNvPr>
          <p:cNvSpPr txBox="1"/>
          <p:nvPr/>
        </p:nvSpPr>
        <p:spPr>
          <a:xfrm>
            <a:off x="7952134" y="2683180"/>
            <a:ext cx="1721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latin typeface="Consolas" panose="020B0609020204030204" pitchFamily="49" charset="0"/>
              </a:rPr>
              <a:t>Value Clause</a:t>
            </a:r>
          </a:p>
        </p:txBody>
      </p:sp>
    </p:spTree>
    <p:extLst>
      <p:ext uri="{BB962C8B-B14F-4D97-AF65-F5344CB8AC3E}">
        <p14:creationId xmlns:p14="http://schemas.microsoft.com/office/powerpoint/2010/main" val="2045222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1A5A9-D302-7ED6-0AE7-480856B0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FAB7EF-0FF1-1CD8-2585-68AC28599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40F9E-DB7E-BAAD-0FD1-9F34B1110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Level Number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43F67B-2C89-A05F-59D0-50ED39DA4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52E1B-B829-4F62-042A-732A4C32C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582" y="1444752"/>
            <a:ext cx="6245352" cy="3968496"/>
          </a:xfrm>
        </p:spPr>
        <p:txBody>
          <a:bodyPr anchor="ctr"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Facilitates hierarchy among variables in the data division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Level meanings: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01 = Top-level group or record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02-49 = Subordinate items (05 is commonly used)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66 = RENAMES clause (aliasing)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77 = Independent elementary item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88 = Condition names (like </a:t>
            </a:r>
            <a:r>
              <a:rPr lang="en-US" dirty="0" err="1">
                <a:latin typeface="Consolas" panose="020B0609020204030204" pitchFamily="49" charset="0"/>
              </a:rPr>
              <a:t>boolean</a:t>
            </a:r>
            <a:r>
              <a:rPr lang="en-US" dirty="0">
                <a:latin typeface="Consolas" panose="020B0609020204030204" pitchFamily="49" charset="0"/>
              </a:rPr>
              <a:t> flags)</a:t>
            </a:r>
            <a:endParaRPr lang="en-PH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281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87CFA-006F-8680-3418-91951E6F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6CA506-66A7-9181-18B9-A5A9FC2E5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8E4DD-6228-AEE0-B285-9926956EB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Defining Data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0D179A-0F82-F780-21BA-747FEF558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9AD84-6A90-77EB-37FD-DA6C275D4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7650" y="1040702"/>
            <a:ext cx="6245352" cy="4626864"/>
          </a:xfrm>
        </p:spPr>
        <p:txBody>
          <a:bodyPr anchor="ctr"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Two main parts of defining data in COBOL: USAGE clauses and PICTURE clauses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PICTURE Clause defines the size, type, and format of your data from a logical/display perspective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effectLst/>
                <a:latin typeface="Consolas" panose="020B0609020204030204" pitchFamily="49" charset="0"/>
              </a:rPr>
              <a:t>USAGE Clause defines how the data is physically stored in memory</a:t>
            </a:r>
          </a:p>
        </p:txBody>
      </p:sp>
    </p:spTree>
    <p:extLst>
      <p:ext uri="{BB962C8B-B14F-4D97-AF65-F5344CB8AC3E}">
        <p14:creationId xmlns:p14="http://schemas.microsoft.com/office/powerpoint/2010/main" val="1255524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05B93-ED4B-D7E1-224A-F0AA26CC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A37BD01-EB2C-6A4D-D60E-C079D24D2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F8FA5-DAE9-4235-9F59-3774FEC96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PICTURE Clause Options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EB027B-F974-D7E5-2061-FB75396BA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BF53DF-2B88-6883-C798-7D4B1D3E3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635380"/>
              </p:ext>
            </p:extLst>
          </p:nvPr>
        </p:nvGraphicFramePr>
        <p:xfrm>
          <a:off x="5155642" y="1996440"/>
          <a:ext cx="6115454" cy="2865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74714">
                  <a:extLst>
                    <a:ext uri="{9D8B030D-6E8A-4147-A177-3AD203B41FA5}">
                      <a16:colId xmlns:a16="http://schemas.microsoft.com/office/drawing/2014/main" val="3319458641"/>
                    </a:ext>
                  </a:extLst>
                </a:gridCol>
                <a:gridCol w="4040740">
                  <a:extLst>
                    <a:ext uri="{9D8B030D-6E8A-4147-A177-3AD203B41FA5}">
                      <a16:colId xmlns:a16="http://schemas.microsoft.com/office/drawing/2014/main" val="363050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PICTURE Clause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8379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PIC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Alphabetic character (A-Z, a-z, space)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3447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PIC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Numeric character (0-9)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7719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PIC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Alphanumeric character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7998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PIC S9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Signed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1585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PIC 9(4)V99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V = Implied decimal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413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PIC N (2002+)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Unicode character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160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3257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561CB-9DF2-EF2E-44DD-6E029618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830C26-A5BD-E4B3-3B3E-5696006FF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4B2F9-F7F5-895F-1A51-4D4CEABB1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USAGE Clause Options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A73000-271F-5735-FE69-E5051A70B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0B6B3B-2E74-EE26-4CAC-A4F0A056BE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0312257"/>
              </p:ext>
            </p:extLst>
          </p:nvPr>
        </p:nvGraphicFramePr>
        <p:xfrm>
          <a:off x="5155642" y="1778000"/>
          <a:ext cx="6115455" cy="330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49269">
                  <a:extLst>
                    <a:ext uri="{9D8B030D-6E8A-4147-A177-3AD203B41FA5}">
                      <a16:colId xmlns:a16="http://schemas.microsoft.com/office/drawing/2014/main" val="3319458641"/>
                    </a:ext>
                  </a:extLst>
                </a:gridCol>
                <a:gridCol w="3306017">
                  <a:extLst>
                    <a:ext uri="{9D8B030D-6E8A-4147-A177-3AD203B41FA5}">
                      <a16:colId xmlns:a16="http://schemas.microsoft.com/office/drawing/2014/main" val="3630500583"/>
                    </a:ext>
                  </a:extLst>
                </a:gridCol>
                <a:gridCol w="1560169">
                  <a:extLst>
                    <a:ext uri="{9D8B030D-6E8A-4147-A177-3AD203B41FA5}">
                      <a16:colId xmlns:a16="http://schemas.microsoft.com/office/drawing/2014/main" val="2244771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USAGE Clause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Storage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Data Size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8379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DISPLAY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Character format (ASCII/EBCDIC)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1 byte per </a:t>
                      </a:r>
                    </a:p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character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3447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BINARY/</a:t>
                      </a:r>
                    </a:p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COMP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Binary integer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2/4/8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7719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COMP-1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Single-precision 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7998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COMP-2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Double-precision 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8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1585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COMP-3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Binary-coded decimal (BCD)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1 byte per 2 digits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139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22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277BB-A91D-FF02-9907-0A331426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4438A3-D012-9D4D-4D8C-521EA7157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436B5-4882-7501-FD20-4C864555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USAGE Clause Options (COBOL 2002+)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15040C-6A05-1121-6EAE-E2D8A014D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EA8E64-2348-C866-CEFA-907C05A4D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786185"/>
              </p:ext>
            </p:extLst>
          </p:nvPr>
        </p:nvGraphicFramePr>
        <p:xfrm>
          <a:off x="5155642" y="1188720"/>
          <a:ext cx="6115455" cy="4480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49269">
                  <a:extLst>
                    <a:ext uri="{9D8B030D-6E8A-4147-A177-3AD203B41FA5}">
                      <a16:colId xmlns:a16="http://schemas.microsoft.com/office/drawing/2014/main" val="3319458641"/>
                    </a:ext>
                  </a:extLst>
                </a:gridCol>
                <a:gridCol w="3306017">
                  <a:extLst>
                    <a:ext uri="{9D8B030D-6E8A-4147-A177-3AD203B41FA5}">
                      <a16:colId xmlns:a16="http://schemas.microsoft.com/office/drawing/2014/main" val="3630500583"/>
                    </a:ext>
                  </a:extLst>
                </a:gridCol>
                <a:gridCol w="1560169">
                  <a:extLst>
                    <a:ext uri="{9D8B030D-6E8A-4147-A177-3AD203B41FA5}">
                      <a16:colId xmlns:a16="http://schemas.microsoft.com/office/drawing/2014/main" val="2244771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USAGE Clause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Data Size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8379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FLOAT-SHORT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IEEE 754 standard floating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3447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FLOAT-LONG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IEEE 754 standard floating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8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7719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FLOAT-EXTENDED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IEEE 754 standard floating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16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7998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BINARY-SHORT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Fixed-size binary integer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2 bytes signed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1585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BINARY-LONG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Fixed-size binary integer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4 bytes signed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413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BINARY-DOUBLE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latin typeface="Consolas" panose="020B0609020204030204" pitchFamily="49" charset="0"/>
                        </a:rPr>
                        <a:t>Fixed-size binary integer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8 bytes signed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2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09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4BB6A-09BA-21FF-1626-13637FA9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9EA08D-D319-FF7B-B2A8-596E95E95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D5188-45A4-D8EB-FE8D-A557680F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USAGE Clause Options (COBOL 2002+)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63B3B5-8524-CFE4-84E0-8FC965964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066E75-5B12-FE36-5C3C-FB43110FD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270555"/>
              </p:ext>
            </p:extLst>
          </p:nvPr>
        </p:nvGraphicFramePr>
        <p:xfrm>
          <a:off x="5155642" y="1864360"/>
          <a:ext cx="6202339" cy="31292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44772">
                  <a:extLst>
                    <a:ext uri="{9D8B030D-6E8A-4147-A177-3AD203B41FA5}">
                      <a16:colId xmlns:a16="http://schemas.microsoft.com/office/drawing/2014/main" val="3319458641"/>
                    </a:ext>
                  </a:extLst>
                </a:gridCol>
                <a:gridCol w="4357567">
                  <a:extLst>
                    <a:ext uri="{9D8B030D-6E8A-4147-A177-3AD203B41FA5}">
                      <a16:colId xmlns:a16="http://schemas.microsoft.com/office/drawing/2014/main" val="363050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USAGE Clause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8379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POINTER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Memory addresses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3447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OBJECT REFERENCE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References to class instances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7719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NATIONAL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Unicode character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7998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INDEX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Special data type for indexing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1585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FUNCTION-POINTER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Pointer to a procedure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4139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dirty="0">
                          <a:latin typeface="Consolas" panose="020B0609020204030204" pitchFamily="49" charset="0"/>
                        </a:rPr>
                        <a:t>TYPEDEF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latin typeface="Consolas" panose="020B0609020204030204" pitchFamily="49" charset="0"/>
                        </a:rPr>
                        <a:t>Reusable type definitions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2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601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A1309-0719-EC65-E881-425CBC5A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1D83696-1136-A3DA-C07B-AA47C8BF1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D61C2-5697-F89A-19B6-2D53AABC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299" y="2617381"/>
            <a:ext cx="5441285" cy="16232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latin typeface="Consolas" panose="020B0609020204030204" pitchFamily="49" charset="0"/>
              </a:rPr>
              <a:t>Solution Code (Stack)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7B5A48-97CD-0560-7975-8E704CFF1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pic>
        <p:nvPicPr>
          <p:cNvPr id="5" name="Picture 4" descr="Autoradiogram on white paper">
            <a:extLst>
              <a:ext uri="{FF2B5EF4-FFF2-40B4-BE49-F238E27FC236}">
                <a16:creationId xmlns:a16="http://schemas.microsoft.com/office/drawing/2014/main" id="{A77B6293-7D6D-CF8E-12EA-B5A45A4D9C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80" r="20824"/>
          <a:stretch>
            <a:fillRect/>
          </a:stretch>
        </p:blipFill>
        <p:spPr>
          <a:xfrm>
            <a:off x="20" y="10"/>
            <a:ext cx="467986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6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88538F-C221-09B8-FED0-3D0E0460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816636-423C-9098-AF67-C16648679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998BA-2096-B024-FF14-A3A767A2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2" y="1115568"/>
            <a:ext cx="3728843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Identification</a:t>
            </a:r>
            <a:br>
              <a:rPr lang="en-PH" sz="3600" dirty="0">
                <a:latin typeface="Consolas" panose="020B0609020204030204" pitchFamily="49" charset="0"/>
              </a:rPr>
            </a:br>
            <a:r>
              <a:rPr lang="en-PH" sz="3600" dirty="0">
                <a:latin typeface="Consolas" panose="020B0609020204030204" pitchFamily="49" charset="0"/>
              </a:rPr>
              <a:t>&amp; Data Division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657E01-2268-3A64-E0A9-1D3E1D9CB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F08B377-13DC-9BDB-137D-431EC8BC2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71" y="1525510"/>
            <a:ext cx="5145825" cy="380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09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6EBF8-D199-DB83-C64D-0F7B42859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90BB3D-3166-8BFF-C329-2257AE25F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19FB0-CD0D-984E-2F1D-B1BA2C3F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2" y="1115568"/>
            <a:ext cx="3728843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Procedure Division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A4763A-F5E9-0862-62F2-7F478DC8F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B274652-EE49-38E9-266C-CCA5E7856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299" y="785443"/>
            <a:ext cx="5068007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2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746F3-06AC-0A00-6782-9DDCF4E2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CB282E4-D102-9C29-0064-159AA0AFF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AF8AE-D0F2-5257-ACA3-0EF179E5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2" y="1115568"/>
            <a:ext cx="3728843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Procedure Division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F6047E-0BD5-D16B-AD5C-8DEAA1AF4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F4EFF52-AAB5-92E4-F30D-F407044D2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4708"/>
            <a:ext cx="4877481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33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AFB04-57E1-EE76-10BE-4EE17269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76198-FAB9-66A2-FC1E-E309E240E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4E56C-07EC-A6DE-88E3-B817B7D6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2" y="1115568"/>
            <a:ext cx="3728843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Procedure Division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0BF320-0772-683C-9DFD-35A2CCCC8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81F1912-0BCF-32F4-79A1-D38DA7D95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168" y="704470"/>
            <a:ext cx="4620270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87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3D3CE-1C19-4CA5-C6A5-E9BF604E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A4F554-7D42-CD16-0F16-F73991978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308CB-D1C5-0A7F-DF8B-73470A4CC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2" y="1115568"/>
            <a:ext cx="3728843" cy="4626864"/>
          </a:xfrm>
        </p:spPr>
        <p:txBody>
          <a:bodyPr>
            <a:normAutofit/>
          </a:bodyPr>
          <a:lstStyle/>
          <a:p>
            <a:pPr algn="l"/>
            <a:r>
              <a:rPr lang="en-PH" sz="3600" dirty="0">
                <a:latin typeface="Consolas" panose="020B0609020204030204" pitchFamily="49" charset="0"/>
              </a:rPr>
              <a:t>Stack Section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6D5560-4E17-B085-0F0A-A0CE86312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63CA98F-8E3A-0518-4810-018702E9E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800" y="432969"/>
            <a:ext cx="4163006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475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6EF3-A037-1F8D-6CCB-16A6D698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>
                <a:latin typeface="Consolas" panose="020B0609020204030204" pitchFamily="49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7C515-A2E8-C776-FD78-A341913D4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PH" dirty="0">
                <a:latin typeface="Consolas" panose="020B0609020204030204" pitchFamily="49" charset="0"/>
              </a:rPr>
              <a:t>IBM Official Website - </a:t>
            </a:r>
            <a:r>
              <a:rPr lang="en-PH" dirty="0">
                <a:latin typeface="Consolas" panose="020B0609020204030204" pitchFamily="49" charset="0"/>
                <a:hlinkClick r:id="rId2"/>
              </a:rPr>
              <a:t>https://www.ibm.com/think/topics/cobol</a:t>
            </a:r>
            <a:endParaRPr lang="en-PH" dirty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PH" dirty="0">
                <a:latin typeface="Consolas" panose="020B0609020204030204" pitchFamily="49" charset="0"/>
              </a:rPr>
              <a:t>History of COBOL - </a:t>
            </a:r>
            <a:r>
              <a:rPr lang="en-PH" dirty="0">
                <a:latin typeface="Consolas" panose="020B0609020204030204" pitchFamily="49" charset="0"/>
                <a:hlinkClick r:id="rId3"/>
              </a:rPr>
              <a:t>https://timthewebmaster.com/en/articles/cobol-programming-language-history/#-cobol-76</a:t>
            </a:r>
            <a:endParaRPr lang="en-PH" dirty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122577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08356-A3FF-BA0C-61AC-6BF96174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PH" dirty="0"/>
              <a:t>End of Presentation</a:t>
            </a:r>
            <a:br>
              <a:rPr lang="en-PH" dirty="0"/>
            </a:br>
            <a:r>
              <a:rPr lang="en-PH" sz="3200" dirty="0"/>
              <a:t>Thank you for listening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185363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Quadratic collection</Template>
  <TotalTime>3400</TotalTime>
  <Words>1356</Words>
  <Application>Microsoft Office PowerPoint</Application>
  <PresentationFormat>Widescreen</PresentationFormat>
  <Paragraphs>239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Calibri</vt:lpstr>
      <vt:lpstr>Consolas</vt:lpstr>
      <vt:lpstr>Goudy Old Style</vt:lpstr>
      <vt:lpstr>Wingdings</vt:lpstr>
      <vt:lpstr>Wingdings 2</vt:lpstr>
      <vt:lpstr>SlateVTI</vt:lpstr>
      <vt:lpstr>COBOL:  An Overview</vt:lpstr>
      <vt:lpstr>Contents</vt:lpstr>
      <vt:lpstr>Historical Background</vt:lpstr>
      <vt:lpstr>Historical Background</vt:lpstr>
      <vt:lpstr>Historical Background</vt:lpstr>
      <vt:lpstr>Historical Background</vt:lpstr>
      <vt:lpstr>Historical Background</vt:lpstr>
      <vt:lpstr>COBOL Revisions</vt:lpstr>
      <vt:lpstr>COBOL Revisions (Cont.)</vt:lpstr>
      <vt:lpstr>COBOL Revisions (Cont.)</vt:lpstr>
      <vt:lpstr>COBOL Revisions (Cont.)</vt:lpstr>
      <vt:lpstr>COBOL Revisions (Cont.)</vt:lpstr>
      <vt:lpstr>COBOL Revisions (Cont.)</vt:lpstr>
      <vt:lpstr>COBOL Program Structure</vt:lpstr>
      <vt:lpstr>Program Structure</vt:lpstr>
      <vt:lpstr>Identification Division</vt:lpstr>
      <vt:lpstr>Environment Division</vt:lpstr>
      <vt:lpstr>Data Division</vt:lpstr>
      <vt:lpstr>Data Division</vt:lpstr>
      <vt:lpstr>Procedure Division</vt:lpstr>
      <vt:lpstr>Variable Declaration</vt:lpstr>
      <vt:lpstr>Basic Declaration Structure</vt:lpstr>
      <vt:lpstr>Level Number</vt:lpstr>
      <vt:lpstr>Defining Data </vt:lpstr>
      <vt:lpstr>PICTURE Clause Options</vt:lpstr>
      <vt:lpstr>USAGE Clause Options</vt:lpstr>
      <vt:lpstr>USAGE Clause Options (COBOL 2002+)</vt:lpstr>
      <vt:lpstr>USAGE Clause Options (COBOL 2002+)</vt:lpstr>
      <vt:lpstr>Solution Code (Stack)</vt:lpstr>
      <vt:lpstr>Identification &amp; Data Division</vt:lpstr>
      <vt:lpstr>Procedure Division</vt:lpstr>
      <vt:lpstr>Procedure Division</vt:lpstr>
      <vt:lpstr>Procedure Division</vt:lpstr>
      <vt:lpstr>Stack Section</vt:lpstr>
      <vt:lpstr>References</vt:lpstr>
      <vt:lpstr>End of Presentation 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 Jevy Tapdasan</dc:creator>
  <cp:lastModifiedBy>Vince Jevy Tapdasan</cp:lastModifiedBy>
  <cp:revision>23</cp:revision>
  <dcterms:created xsi:type="dcterms:W3CDTF">2025-11-30T11:42:54Z</dcterms:created>
  <dcterms:modified xsi:type="dcterms:W3CDTF">2025-12-06T09:06:33Z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