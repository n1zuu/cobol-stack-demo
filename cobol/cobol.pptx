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39"/>
  </p:notesMasterIdLst>
  <p:sldIdLst>
    <p:sldId id="278" r:id="rId5"/>
    <p:sldId id="279" r:id="rId6"/>
    <p:sldId id="284" r:id="rId7"/>
    <p:sldId id="280" r:id="rId8"/>
    <p:sldId id="281" r:id="rId9"/>
    <p:sldId id="282" r:id="rId10"/>
    <p:sldId id="295" r:id="rId11"/>
    <p:sldId id="296" r:id="rId12"/>
    <p:sldId id="297" r:id="rId13"/>
    <p:sldId id="298" r:id="rId14"/>
    <p:sldId id="299" r:id="rId15"/>
    <p:sldId id="300" r:id="rId16"/>
    <p:sldId id="283" r:id="rId17"/>
    <p:sldId id="285" r:id="rId18"/>
    <p:sldId id="286" r:id="rId19"/>
    <p:sldId id="287" r:id="rId20"/>
    <p:sldId id="289" r:id="rId21"/>
    <p:sldId id="290" r:id="rId22"/>
    <p:sldId id="291" r:id="rId23"/>
    <p:sldId id="292" r:id="rId24"/>
    <p:sldId id="293" r:id="rId25"/>
    <p:sldId id="301" r:id="rId26"/>
    <p:sldId id="302" r:id="rId27"/>
    <p:sldId id="303" r:id="rId28"/>
    <p:sldId id="304" r:id="rId29"/>
    <p:sldId id="305" r:id="rId30"/>
    <p:sldId id="306" r:id="rId31"/>
    <p:sldId id="307" r:id="rId32"/>
    <p:sldId id="309" r:id="rId33"/>
    <p:sldId id="310" r:id="rId34"/>
    <p:sldId id="312" r:id="rId35"/>
    <p:sldId id="311" r:id="rId36"/>
    <p:sldId id="313" r:id="rId37"/>
    <p:sldId id="314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F0424F06-A07E-46DE-9D2E-2C7522B3CE79}">
          <p14:sldIdLst>
            <p14:sldId id="278"/>
            <p14:sldId id="279"/>
          </p14:sldIdLst>
        </p14:section>
        <p14:section name="Historical Background" id="{A7027D08-F243-4225-A04C-72E1C08F76EC}">
          <p14:sldIdLst>
            <p14:sldId id="284"/>
            <p14:sldId id="280"/>
            <p14:sldId id="281"/>
            <p14:sldId id="282"/>
            <p14:sldId id="295"/>
            <p14:sldId id="296"/>
            <p14:sldId id="297"/>
            <p14:sldId id="298"/>
            <p14:sldId id="299"/>
            <p14:sldId id="300"/>
          </p14:sldIdLst>
        </p14:section>
        <p14:section name="Program Structure" id="{A462004D-8876-4507-9076-ABCD9BA00CF2}">
          <p14:sldIdLst>
            <p14:sldId id="283"/>
            <p14:sldId id="285"/>
            <p14:sldId id="286"/>
            <p14:sldId id="287"/>
            <p14:sldId id="289"/>
            <p14:sldId id="290"/>
            <p14:sldId id="291"/>
          </p14:sldIdLst>
        </p14:section>
        <p14:section name="Variable Declaration" id="{7135EA50-8AD3-4853-AB3F-50E914C89B00}">
          <p14:sldIdLst>
            <p14:sldId id="292"/>
            <p14:sldId id="293"/>
            <p14:sldId id="301"/>
            <p14:sldId id="302"/>
            <p14:sldId id="303"/>
            <p14:sldId id="304"/>
            <p14:sldId id="305"/>
            <p14:sldId id="306"/>
          </p14:sldIdLst>
        </p14:section>
        <p14:section name="Solution Code" id="{27FE0AA4-6389-46B1-BB92-20E0B56ED527}">
          <p14:sldIdLst>
            <p14:sldId id="307"/>
            <p14:sldId id="309"/>
            <p14:sldId id="310"/>
            <p14:sldId id="312"/>
            <p14:sldId id="311"/>
            <p14:sldId id="313"/>
          </p14:sldIdLst>
        </p14:section>
        <p14:section name="End Section" id="{E13DD318-2C26-4EFD-8AC4-9EEB4ACF46CA}">
          <p14:sldIdLst>
            <p14:sldId id="31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19" autoAdjust="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tableStyles" Target="tableStyle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D01546-198A-4195-BCF8-F0FF54C90E5E}" type="datetimeFigureOut">
              <a:rPr lang="en-US" smtClean="0"/>
              <a:t>12/5/2025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6DE88F-1F85-4A27-9D34-D74A50E7B0D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00918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3AEA074-24A7-4657-AE02-A51F68EA6AA2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578475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77348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38747-4367-4BD2-8D51-C97E202738E2}" type="datetime1">
              <a:rPr lang="en-US" smtClean="0"/>
              <a:t>12/5/2025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07467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55A3C-5767-4844-A0A3-83778C2E5409}" type="datetime1">
              <a:rPr lang="en-US" smtClean="0"/>
              <a:t>12/5/2025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48654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763439"/>
            <a:ext cx="9590550" cy="133349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507A8-A5CF-4D38-AB86-7EDDA87A85D4}" type="datetime1">
              <a:rPr lang="en-US" smtClean="0"/>
              <a:t>12/5/2025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6401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618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76450"/>
            <a:ext cx="4856841" cy="362267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0716" y="2076451"/>
            <a:ext cx="4856841" cy="3622672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CD27C-8599-43EF-BA1D-14DDC1946E06}" type="datetime1">
              <a:rPr lang="en-US" smtClean="0"/>
              <a:t>12/5/2025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8205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>
            <a:extLst>
              <a:ext uri="{FF2B5EF4-FFF2-40B4-BE49-F238E27FC236}">
                <a16:creationId xmlns:a16="http://schemas.microsoft.com/office/drawing/2014/main" id="{37B721FF-D609-4D98-9D19-CF75AA8A5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29200" cy="4099959"/>
          </a:xfrm>
          <a:prstGeom prst="rect">
            <a:avLst/>
          </a:prstGeom>
        </p:spPr>
      </p:pic>
      <p:pic>
        <p:nvPicPr>
          <p:cNvPr id="21" name="Picture 20" descr="Slate-V2-HD-compPhotoInset.png">
            <a:extLst>
              <a:ext uri="{FF2B5EF4-FFF2-40B4-BE49-F238E27FC236}">
                <a16:creationId xmlns:a16="http://schemas.microsoft.com/office/drawing/2014/main" id="{073936BD-C868-433F-8E84-D6DD8E640E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357" y="1734506"/>
            <a:ext cx="5029200" cy="409995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6013" y="1855153"/>
            <a:ext cx="4764764" cy="69249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6013" y="2702103"/>
            <a:ext cx="4764764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3166" y="1855152"/>
            <a:ext cx="4779582" cy="692495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3167" y="2702103"/>
            <a:ext cx="4779581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343D99-809A-49C0-96E5-4250D0B498EE}" type="datetime1">
              <a:rPr lang="en-US" smtClean="0"/>
              <a:t>12/5/2025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5120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3DE9B-B678-4EFB-BB7D-A4370204A0B0}" type="datetime1">
              <a:rPr lang="en-US" smtClean="0"/>
              <a:t>12/5/2025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094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8812DA-F765-4142-A6A3-A8ED7235E082}" type="datetime1">
              <a:rPr lang="en-US" smtClean="0"/>
              <a:t>12/5/2025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51302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0800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673351"/>
            <a:ext cx="3706889" cy="301625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77FD-7DE6-41D4-930D-AC99F5AFE54E}" type="datetime1">
              <a:rPr lang="en-US" smtClean="0"/>
              <a:t>12/5/2025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3556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>
            <a:extLst>
              <a:ext uri="{FF2B5EF4-FFF2-40B4-BE49-F238E27FC236}">
                <a16:creationId xmlns:a16="http://schemas.microsoft.com/office/drawing/2014/main" id="{4D06E496-ACBA-4063-B4A1-C5C484EE5A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763701"/>
            <a:ext cx="5707899" cy="1675559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3698" y="2679699"/>
            <a:ext cx="4588094" cy="3135695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15526-7079-4B7B-987C-1B5FAE11A0FF}" type="datetime1">
              <a:rPr lang="en-US" smtClean="0"/>
              <a:t>12/5/2025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0567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>
            <a:extLst>
              <a:ext uri="{FF2B5EF4-FFF2-40B4-BE49-F238E27FC236}">
                <a16:creationId xmlns:a16="http://schemas.microsoft.com/office/drawing/2014/main" id="{CE39118B-B3AD-4BD4-BA22-DEFF4E76C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247728"/>
            <a:ext cx="10353762" cy="543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B079-7EF0-44EE-B798-BCC497C9F3B2}" type="datetime1">
              <a:rPr lang="en-US" smtClean="0"/>
              <a:t>12/5/2025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95022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F70A8-1D13-4657-95F0-A9EA54967B8D}" type="datetime1">
              <a:rPr lang="en-US" smtClean="0"/>
              <a:t>12/5/2025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3850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EB90AC-71BD-4C7F-8ACA-7B3F18292E63}" type="datetime1">
              <a:rPr lang="en-US" smtClean="0"/>
              <a:t>12/5/2025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3F0D53-0705-41B7-8554-09D21E7807F9}"/>
              </a:ext>
            </a:extLst>
          </p:cNvPr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F647CD-0F1A-4BB3-89E0-A74F1E1B098D}"/>
              </a:ext>
            </a:extLst>
          </p:cNvPr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752911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EFC2C-8905-46F0-B443-CE905B76BA01}" type="datetime1">
              <a:rPr lang="en-US" smtClean="0"/>
              <a:t>12/5/2025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5092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49"/>
            <a:ext cx="3300984" cy="764783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768110"/>
            <a:ext cx="3300984" cy="302308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79DC3-C9B5-499E-9140-0DC28B7074E2}" type="datetime1">
              <a:rPr lang="en-US" smtClean="0"/>
              <a:t>12/5/2025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26478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>
            <a:extLst>
              <a:ext uri="{FF2B5EF4-FFF2-40B4-BE49-F238E27FC236}">
                <a16:creationId xmlns:a16="http://schemas.microsoft.com/office/drawing/2014/main" id="{7E87C569-D426-4615-ADA7-B370EA9834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>
            <a:extLst>
              <a:ext uri="{FF2B5EF4-FFF2-40B4-BE49-F238E27FC236}">
                <a16:creationId xmlns:a16="http://schemas.microsoft.com/office/drawing/2014/main" id="{7B353ED4-7AD0-46C9-88ED-1A16B1433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>
            <a:extLst>
              <a:ext uri="{FF2B5EF4-FFF2-40B4-BE49-F238E27FC236}">
                <a16:creationId xmlns:a16="http://schemas.microsoft.com/office/drawing/2014/main" id="{F561D985-AD57-459A-B3A6-EBF2960397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572443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B33EA-E472-4D22-9C03-A9C14AA21CED}" type="datetime1">
              <a:rPr lang="en-US" smtClean="0"/>
              <a:t>12/5/2025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32546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573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76450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073ED0CC-082F-4160-86E5-0D6041F12778}" type="datetime1">
              <a:rPr lang="en-US" smtClean="0"/>
              <a:t>12/5/2025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897835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</p:sldLayoutIdLst>
  <p:hf sldNum="0" hdr="0" ftr="0" dt="0"/>
  <p:txStyles>
    <p:titleStyle>
      <a:lvl1pPr algn="ctr" defTabSz="457200" rtl="0" eaLnBrk="1" latinLnBrk="0" hangingPunct="1">
        <a:lnSpc>
          <a:spcPct val="90000"/>
        </a:lnSpc>
        <a:spcBef>
          <a:spcPct val="0"/>
        </a:spcBef>
        <a:buNone/>
        <a:defRPr sz="4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3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21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6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Relationship Id="rId6" Type="http://schemas.openxmlformats.org/officeDocument/2006/relationships/image" Target="../media/image8.png"/><Relationship Id="rId5" Type="http://schemas.openxmlformats.org/officeDocument/2006/relationships/image" Target="../media/image7.jpeg"/><Relationship Id="rId4" Type="http://schemas.openxmlformats.org/officeDocument/2006/relationships/image" Target="../media/image1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books.google.com.ph/books?id=eig-AQAAIAAJ&amp;pg=RA3-PA63&amp;source=gbs_toc_r&amp;cad=2#v=onepage&amp;q&amp;f=false" TargetMode="External"/><Relationship Id="rId2" Type="http://schemas.openxmlformats.org/officeDocument/2006/relationships/hyperlink" Target="https://dl.acm.org/doi/10.1145/367710.367721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books.google.com.ph/books?id=3a6J0l1bM0QC&amp;printsec=frontcover#v=onepage&amp;q&amp;f=false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l.acm.org/doi/pdf/10.1145/1387145" TargetMode="External"/><Relationship Id="rId2" Type="http://schemas.openxmlformats.org/officeDocument/2006/relationships/hyperlink" Target="https://nvlpubs.nist.gov/nistpubs/Legacy/hb/nbshandbook106.pdf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nvlpubs.nist.gov/nistpubs/Legacy/FIPS/fipspub21-1.pdf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ovinfo.gov/content/pkg/GOVPUB-C13-d0cd47d3539e1d225361316057506135/pdf/GOVPUB-C13-d0cd47d3539e1d225361316057506135.pdf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sv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jpe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8A1C807-B9AD-4C9B-BF9F-60F0342899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" y="10"/>
            <a:ext cx="12192001" cy="6857990"/>
          </a:xfrm>
          <a:prstGeom prst="rect">
            <a:avLst/>
          </a:prstGeom>
        </p:spPr>
      </p:pic>
      <p:sp useBgFill="1">
        <p:nvSpPr>
          <p:cNvPr id="103" name="Freeform 5">
            <a:extLst>
              <a:ext uri="{FF2B5EF4-FFF2-40B4-BE49-F238E27FC236}">
                <a16:creationId xmlns:a16="http://schemas.microsoft.com/office/drawing/2014/main" id="{FE469E50-3893-4ED6-92BA-2985C32B0C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rot="5400000">
            <a:off x="7131809" y="1385982"/>
            <a:ext cx="4031414" cy="4100418"/>
          </a:xfrm>
          <a:custGeom>
            <a:avLst/>
            <a:gdLst>
              <a:gd name="T0" fmla="*/ 1577 w 1601"/>
              <a:gd name="T1" fmla="*/ 0 h 696"/>
              <a:gd name="T2" fmla="*/ 833 w 1601"/>
              <a:gd name="T3" fmla="*/ 0 h 696"/>
              <a:gd name="T4" fmla="*/ 768 w 1601"/>
              <a:gd name="T5" fmla="*/ 0 h 696"/>
              <a:gd name="T6" fmla="*/ 24 w 1601"/>
              <a:gd name="T7" fmla="*/ 0 h 696"/>
              <a:gd name="T8" fmla="*/ 0 w 1601"/>
              <a:gd name="T9" fmla="*/ 27 h 696"/>
              <a:gd name="T10" fmla="*/ 0 w 1601"/>
              <a:gd name="T11" fmla="*/ 669 h 696"/>
              <a:gd name="T12" fmla="*/ 24 w 1601"/>
              <a:gd name="T13" fmla="*/ 696 h 696"/>
              <a:gd name="T14" fmla="*/ 768 w 1601"/>
              <a:gd name="T15" fmla="*/ 696 h 696"/>
              <a:gd name="T16" fmla="*/ 833 w 1601"/>
              <a:gd name="T17" fmla="*/ 696 h 696"/>
              <a:gd name="T18" fmla="*/ 1577 w 1601"/>
              <a:gd name="T19" fmla="*/ 696 h 696"/>
              <a:gd name="T20" fmla="*/ 1601 w 1601"/>
              <a:gd name="T21" fmla="*/ 669 h 696"/>
              <a:gd name="T22" fmla="*/ 1601 w 1601"/>
              <a:gd name="T23" fmla="*/ 27 h 696"/>
              <a:gd name="T24" fmla="*/ 1577 w 1601"/>
              <a:gd name="T25" fmla="*/ 0 h 6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601" h="696">
                <a:moveTo>
                  <a:pt x="1577" y="0"/>
                </a:moveTo>
                <a:cubicBezTo>
                  <a:pt x="833" y="0"/>
                  <a:pt x="833" y="0"/>
                  <a:pt x="833" y="0"/>
                </a:cubicBezTo>
                <a:cubicBezTo>
                  <a:pt x="768" y="0"/>
                  <a:pt x="768" y="0"/>
                  <a:pt x="768" y="0"/>
                </a:cubicBez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2"/>
                  <a:pt x="0" y="27"/>
                </a:cubicBezTo>
                <a:cubicBezTo>
                  <a:pt x="0" y="669"/>
                  <a:pt x="0" y="669"/>
                  <a:pt x="0" y="669"/>
                </a:cubicBezTo>
                <a:cubicBezTo>
                  <a:pt x="0" y="684"/>
                  <a:pt x="11" y="696"/>
                  <a:pt x="24" y="696"/>
                </a:cubicBezTo>
                <a:cubicBezTo>
                  <a:pt x="768" y="696"/>
                  <a:pt x="768" y="696"/>
                  <a:pt x="768" y="696"/>
                </a:cubicBezTo>
                <a:cubicBezTo>
                  <a:pt x="833" y="696"/>
                  <a:pt x="833" y="696"/>
                  <a:pt x="833" y="696"/>
                </a:cubicBezTo>
                <a:cubicBezTo>
                  <a:pt x="1577" y="696"/>
                  <a:pt x="1577" y="696"/>
                  <a:pt x="1577" y="696"/>
                </a:cubicBezTo>
                <a:cubicBezTo>
                  <a:pt x="1590" y="696"/>
                  <a:pt x="1601" y="684"/>
                  <a:pt x="1601" y="669"/>
                </a:cubicBezTo>
                <a:cubicBezTo>
                  <a:pt x="1601" y="27"/>
                  <a:pt x="1601" y="27"/>
                  <a:pt x="1601" y="27"/>
                </a:cubicBezTo>
                <a:cubicBezTo>
                  <a:pt x="1601" y="12"/>
                  <a:pt x="1590" y="0"/>
                  <a:pt x="1577" y="0"/>
                </a:cubicBezTo>
                <a:close/>
              </a:path>
            </a:pathLst>
          </a:custGeom>
          <a:ln>
            <a:noFill/>
          </a:ln>
          <a:effectLst>
            <a:outerShdw blurRad="50800" dist="38100" dir="5400000" algn="tl" rotWithShape="0">
              <a:srgbClr val="000000">
                <a:alpha val="43000"/>
              </a:srgbClr>
            </a:outerShdw>
          </a:effectLst>
          <a:extLst>
            <a:ext uri="{91240B29-F687-4f45-9708-019B960494DF}">
              <a14:hiddenLine xmlns="" xmlns:a14="http://schemas.microsoft.com/office/drawing/2010/main" xmlns:p14="http://schemas.microsoft.com/office/powerpoint/2010/main" xmlns:a16="http://schemas.microsoft.com/office/drawing/2014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oudy Old Style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1F047C-C727-42A7-85C5-68C5AA1B1A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89962" y="1673524"/>
            <a:ext cx="3485073" cy="2596724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latin typeface="Consolas" panose="020B0609020204030204" pitchFamily="49" charset="0"/>
              </a:rPr>
              <a:t>COBOL: </a:t>
            </a:r>
            <a:br>
              <a:rPr lang="en-US" sz="4000" dirty="0">
                <a:latin typeface="Consolas" panose="020B0609020204030204" pitchFamily="49" charset="0"/>
              </a:rPr>
            </a:br>
            <a:r>
              <a:rPr lang="en-US" sz="4000" dirty="0">
                <a:latin typeface="Consolas" panose="020B0609020204030204" pitchFamily="49" charset="0"/>
              </a:rPr>
              <a:t>An Overview</a:t>
            </a:r>
          </a:p>
        </p:txBody>
      </p:sp>
    </p:spTree>
    <p:extLst>
      <p:ext uri="{BB962C8B-B14F-4D97-AF65-F5344CB8AC3E}">
        <p14:creationId xmlns:p14="http://schemas.microsoft.com/office/powerpoint/2010/main" val="41678842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4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5" name="Rectangle 54">
            <a:extLst>
              <a:ext uri="{FF2B5EF4-FFF2-40B4-BE49-F238E27FC236}">
                <a16:creationId xmlns:a16="http://schemas.microsoft.com/office/drawing/2014/main" id="{0EF2A0DA-AE81-4A45-972E-646AC2870C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oudy Old Style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2B2D6DE-C9B5-4678-91EF-77E85F2350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-1"/>
          <a:stretch/>
        </p:blipFill>
        <p:spPr>
          <a:xfrm>
            <a:off x="-8623" y="10"/>
            <a:ext cx="6265647" cy="6857990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B536FA4E-0152-4E27-91DA-0FC22D184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57026" y="1"/>
            <a:ext cx="5934973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9559F60-4CE1-4E2F-86EA-1B60679F1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00493" y="609600"/>
            <a:ext cx="4538124" cy="970450"/>
          </a:xfrm>
        </p:spPr>
        <p:txBody>
          <a:bodyPr anchor="b">
            <a:normAutofit/>
          </a:bodyPr>
          <a:lstStyle/>
          <a:p>
            <a:pPr algn="l"/>
            <a:r>
              <a:rPr lang="en-US" sz="4000" dirty="0">
                <a:latin typeface="Consolas" panose="020B0609020204030204" pitchFamily="49" charset="0"/>
              </a:rPr>
              <a:t>Contents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F260476B-CCA6-412B-A9C5-399C34AE6F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00493" y="1732449"/>
            <a:ext cx="4403596" cy="4058751"/>
          </a:xfrm>
        </p:spPr>
        <p:txBody>
          <a:bodyPr anchor="t"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sz="2400" dirty="0">
                <a:latin typeface="Consolas" panose="020B0609020204030204" pitchFamily="49" charset="0"/>
              </a:rPr>
              <a:t>Historical Background of COBOL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400" dirty="0">
                <a:latin typeface="Consolas" panose="020B0609020204030204" pitchFamily="49" charset="0"/>
              </a:rPr>
              <a:t>COBOL Program Structure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400" dirty="0">
                <a:latin typeface="Consolas" panose="020B0609020204030204" pitchFamily="49" charset="0"/>
              </a:rPr>
              <a:t>Variable Declaration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400" dirty="0">
                <a:latin typeface="Consolas" panose="020B0609020204030204" pitchFamily="49" charset="0"/>
              </a:rPr>
              <a:t>Explanation of Solution Code (Stack Implementation)</a:t>
            </a:r>
          </a:p>
        </p:txBody>
      </p:sp>
    </p:spTree>
    <p:extLst>
      <p:ext uri="{BB962C8B-B14F-4D97-AF65-F5344CB8AC3E}">
        <p14:creationId xmlns:p14="http://schemas.microsoft.com/office/powerpoint/2010/main" val="32202356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D32A07D-C646-4CC0-BA93-76707E707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A86A80-B332-7A3B-B494-D40AC4A860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9696" y="1947672"/>
            <a:ext cx="3382832" cy="165497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/>
            <a:r>
              <a:rPr lang="en-US" sz="4200" dirty="0">
                <a:latin typeface="Consolas" panose="020B0609020204030204" pitchFamily="49" charset="0"/>
              </a:rPr>
              <a:t>Historical Background</a:t>
            </a:r>
          </a:p>
        </p:txBody>
      </p:sp>
      <p:pic>
        <p:nvPicPr>
          <p:cNvPr id="1026" name="Picture 2" descr="COBOL - Wikipedia">
            <a:extLst>
              <a:ext uri="{FF2B5EF4-FFF2-40B4-BE49-F238E27FC236}">
                <a16:creationId xmlns:a16="http://schemas.microsoft.com/office/drawing/2014/main" id="{AE9DE027-1900-B9DC-EEFC-4614746D00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561022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37033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5" name="Rectangle 1034">
            <a:extLst>
              <a:ext uri="{FF2B5EF4-FFF2-40B4-BE49-F238E27FC236}">
                <a16:creationId xmlns:a16="http://schemas.microsoft.com/office/drawing/2014/main" id="{0EF2A0DA-AE81-4A45-972E-646AC2870C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The Legacy of Grace Hopper - Stories - Vassar College">
            <a:extLst>
              <a:ext uri="{FF2B5EF4-FFF2-40B4-BE49-F238E27FC236}">
                <a16:creationId xmlns:a16="http://schemas.microsoft.com/office/drawing/2014/main" id="{BB48FEAB-07E7-EA0A-2712-ECC0E697A4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" b="10283"/>
          <a:stretch>
            <a:fillRect/>
          </a:stretch>
        </p:blipFill>
        <p:spPr bwMode="auto">
          <a:xfrm>
            <a:off x="-8623" y="10"/>
            <a:ext cx="6265647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035">
            <a:extLst>
              <a:ext uri="{FF2B5EF4-FFF2-40B4-BE49-F238E27FC236}">
                <a16:creationId xmlns:a16="http://schemas.microsoft.com/office/drawing/2014/main" id="{B536FA4E-0152-4E27-91DA-0FC22D184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64" r="2807" b="1446"/>
          <a:stretch/>
        </p:blipFill>
        <p:spPr>
          <a:xfrm>
            <a:off x="6257026" y="1"/>
            <a:ext cx="5934973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04E8FFA-2B36-BC76-EDE2-508CA4FCA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00493" y="609600"/>
            <a:ext cx="4538124" cy="970450"/>
          </a:xfrm>
        </p:spPr>
        <p:txBody>
          <a:bodyPr anchor="b">
            <a:normAutofit/>
          </a:bodyPr>
          <a:lstStyle/>
          <a:p>
            <a:pPr algn="l"/>
            <a:r>
              <a:rPr lang="en-PH" sz="3200" dirty="0">
                <a:latin typeface="Consolas" panose="020B0609020204030204" pitchFamily="49" charset="0"/>
              </a:rPr>
              <a:t>Historical 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23ED3-87C1-4A6D-86BC-5C050FF980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00492" y="1732449"/>
            <a:ext cx="4538124" cy="4515951"/>
          </a:xfrm>
        </p:spPr>
        <p:txBody>
          <a:bodyPr anchor="t">
            <a:normAutofit fontScale="92500" lnSpcReduction="10000"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sz="1800" dirty="0">
                <a:effectLst/>
                <a:latin typeface="Consolas" panose="020B0609020204030204" pitchFamily="49" charset="0"/>
              </a:rPr>
              <a:t>COBOL was developed by the Conference on Data Systems Languages (CODASYL), which formed in 1959.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1800" dirty="0">
                <a:effectLst/>
                <a:latin typeface="Consolas" panose="020B0609020204030204" pitchFamily="49" charset="0"/>
              </a:rPr>
              <a:t>Created by computer science pioneer Dr. Grace Hopper, COBOL was created as part of a US Department of Defense initiative pushing for a programming language that could work across operating systems and hardware environments.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1800" dirty="0">
                <a:effectLst/>
                <a:latin typeface="Consolas" panose="020B0609020204030204" pitchFamily="49" charset="0"/>
              </a:rPr>
              <a:t>Was partly derived from FLOW-MATIC, the first data-processing language to use English-like keywords</a:t>
            </a:r>
          </a:p>
        </p:txBody>
      </p:sp>
    </p:spTree>
    <p:extLst>
      <p:ext uri="{BB962C8B-B14F-4D97-AF65-F5344CB8AC3E}">
        <p14:creationId xmlns:p14="http://schemas.microsoft.com/office/powerpoint/2010/main" val="22136185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3ABDC6-9398-F586-E25A-3D0DC7BA7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1" name="Rectangle 1040">
            <a:extLst>
              <a:ext uri="{FF2B5EF4-FFF2-40B4-BE49-F238E27FC236}">
                <a16:creationId xmlns:a16="http://schemas.microsoft.com/office/drawing/2014/main" id="{9A6C2C86-63BF-47D5-AA3F-905111A238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E61CEF-2272-F45C-1EE0-75AF81F7FE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013" y="1115568"/>
            <a:ext cx="3487616" cy="4626864"/>
          </a:xfrm>
        </p:spPr>
        <p:txBody>
          <a:bodyPr>
            <a:normAutofit/>
          </a:bodyPr>
          <a:lstStyle/>
          <a:p>
            <a:pPr algn="l"/>
            <a:r>
              <a:rPr lang="en-PH" sz="3600" dirty="0">
                <a:latin typeface="Consolas" panose="020B0609020204030204" pitchFamily="49" charset="0"/>
              </a:rPr>
              <a:t>Historical Background</a:t>
            </a:r>
          </a:p>
        </p:txBody>
      </p:sp>
      <p:cxnSp>
        <p:nvCxnSpPr>
          <p:cNvPr id="1043" name="Straight Connector 1042">
            <a:extLst>
              <a:ext uri="{FF2B5EF4-FFF2-40B4-BE49-F238E27FC236}">
                <a16:creationId xmlns:a16="http://schemas.microsoft.com/office/drawing/2014/main" id="{425A0768-3044-4AA9-A889-D2CAA68C51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605" y="2057400"/>
            <a:ext cx="0" cy="274320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2516C5-B0F7-44D4-D7CB-60285D7E03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5398" y="1115568"/>
            <a:ext cx="6245352" cy="4626864"/>
          </a:xfrm>
        </p:spPr>
        <p:txBody>
          <a:bodyPr anchor="ctr"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effectLst/>
                <a:latin typeface="Consolas" panose="020B0609020204030204" pitchFamily="49" charset="0"/>
              </a:rPr>
              <a:t>The first version of the COBOL programming language was released in 1960 (COBOL-60)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effectLst/>
                <a:latin typeface="Consolas" panose="020B0609020204030204" pitchFamily="49" charset="0"/>
              </a:rPr>
              <a:t>It was ultimately standardized as a computer language in 1968 (ISO/IEC 1989).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effectLst/>
                <a:latin typeface="Consolas" panose="020B0609020204030204" pitchFamily="49" charset="0"/>
              </a:rPr>
              <a:t>Implemented several revisions and modernizations, including COBOL-61, COBOL-68, COBOL-74 and COBOL-85</a:t>
            </a:r>
            <a:endParaRPr lang="en-PH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0538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584CA6-3EF1-7ED1-4E5F-68D3131A48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1" name="Rectangle 1040">
            <a:extLst>
              <a:ext uri="{FF2B5EF4-FFF2-40B4-BE49-F238E27FC236}">
                <a16:creationId xmlns:a16="http://schemas.microsoft.com/office/drawing/2014/main" id="{9255F579-B5A9-C6BE-764A-ABABEDFEE3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3B899E-72DF-53D9-896F-C7464EEA3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013" y="1115568"/>
            <a:ext cx="3487616" cy="4626864"/>
          </a:xfrm>
        </p:spPr>
        <p:txBody>
          <a:bodyPr>
            <a:normAutofit/>
          </a:bodyPr>
          <a:lstStyle/>
          <a:p>
            <a:pPr algn="l"/>
            <a:r>
              <a:rPr lang="en-PH" sz="3600" dirty="0">
                <a:latin typeface="Consolas" panose="020B0609020204030204" pitchFamily="49" charset="0"/>
              </a:rPr>
              <a:t>Historical Background</a:t>
            </a:r>
          </a:p>
        </p:txBody>
      </p:sp>
      <p:cxnSp>
        <p:nvCxnSpPr>
          <p:cNvPr id="1043" name="Straight Connector 1042">
            <a:extLst>
              <a:ext uri="{FF2B5EF4-FFF2-40B4-BE49-F238E27FC236}">
                <a16:creationId xmlns:a16="http://schemas.microsoft.com/office/drawing/2014/main" id="{B7F59F5B-CC66-ACB6-61CD-1A08DF24DC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605" y="2057400"/>
            <a:ext cx="0" cy="274320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FF1F74-0A65-0F26-6799-A33F48887C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5398" y="1115568"/>
            <a:ext cx="6245352" cy="4626864"/>
          </a:xfrm>
        </p:spPr>
        <p:txBody>
          <a:bodyPr anchor="ctr">
            <a:normAutofit fontScale="92500"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effectLst/>
                <a:latin typeface="Consolas" panose="020B0609020204030204" pitchFamily="49" charset="0"/>
              </a:rPr>
              <a:t>COBOL 2002 aimed to make COBOL applications more compatible with modern software development practices by introducing object-oriented features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effectLst/>
                <a:latin typeface="Consolas" panose="020B0609020204030204" pitchFamily="49" charset="0"/>
              </a:rPr>
              <a:t>COBOL 14 introduced new changes, including replacing portable arithmetic results with </a:t>
            </a:r>
            <a:r>
              <a:rPr lang="en-US" u="sng" dirty="0">
                <a:effectLst/>
                <a:latin typeface="Consolas" panose="020B0609020204030204" pitchFamily="49" charset="0"/>
              </a:rPr>
              <a:t>IEEE 754</a:t>
            </a:r>
            <a:r>
              <a:rPr lang="en-US" dirty="0">
                <a:effectLst/>
                <a:latin typeface="Consolas" panose="020B0609020204030204" pitchFamily="49" charset="0"/>
              </a:rPr>
              <a:t> data types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effectLst/>
                <a:latin typeface="Consolas" panose="020B0609020204030204" pitchFamily="49" charset="0"/>
              </a:rPr>
              <a:t>The latest standard, COBOL 2023, delivered additional new features focused on improving COBOL's interoperability with modern systems</a:t>
            </a:r>
            <a:endParaRPr lang="en-PH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26031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EC58D-BFB1-944D-986C-29F14B4C2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latin typeface="Consolas" panose="020B0609020204030204" pitchFamily="49" charset="0"/>
              </a:rPr>
              <a:t>COBOL Revisions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B1ED5E6-CCBA-FE3B-704A-EB6D642EFA6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30296379"/>
              </p:ext>
            </p:extLst>
          </p:nvPr>
        </p:nvGraphicFramePr>
        <p:xfrm>
          <a:off x="914400" y="2076450"/>
          <a:ext cx="10353674" cy="3583685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3227832">
                  <a:extLst>
                    <a:ext uri="{9D8B030D-6E8A-4147-A177-3AD203B41FA5}">
                      <a16:colId xmlns:a16="http://schemas.microsoft.com/office/drawing/2014/main" val="990930062"/>
                    </a:ext>
                  </a:extLst>
                </a:gridCol>
                <a:gridCol w="7125842">
                  <a:extLst>
                    <a:ext uri="{9D8B030D-6E8A-4147-A177-3AD203B41FA5}">
                      <a16:colId xmlns:a16="http://schemas.microsoft.com/office/drawing/2014/main" val="3807724847"/>
                    </a:ext>
                  </a:extLst>
                </a:gridCol>
              </a:tblGrid>
              <a:tr h="391630">
                <a:tc>
                  <a:txBody>
                    <a:bodyPr/>
                    <a:lstStyle/>
                    <a:p>
                      <a:r>
                        <a:rPr lang="en-US" noProof="0" dirty="0">
                          <a:latin typeface="Consolas" panose="020B0609020204030204" pitchFamily="49" charset="0"/>
                        </a:rPr>
                        <a:t>COBOL Version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>
                          <a:latin typeface="Consolas" panose="020B0609020204030204" pitchFamily="49" charset="0"/>
                        </a:rPr>
                        <a:t>Major Change(s)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370877640"/>
                  </a:ext>
                </a:extLst>
              </a:tr>
              <a:tr h="391630">
                <a:tc>
                  <a:txBody>
                    <a:bodyPr/>
                    <a:lstStyle/>
                    <a:p>
                      <a:r>
                        <a:rPr lang="en-US" noProof="0" dirty="0">
                          <a:latin typeface="Consolas" panose="020B0609020204030204" pitchFamily="49" charset="0"/>
                          <a:hlinkClick r:id="rId2"/>
                        </a:rPr>
                        <a:t>COBOL-61</a:t>
                      </a:r>
                      <a:endParaRPr lang="en-US" noProof="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noProof="0" dirty="0">
                          <a:latin typeface="Consolas" panose="020B0609020204030204" pitchFamily="49" charset="0"/>
                        </a:rPr>
                        <a:t>Structural changes; more stable version of COBOL-60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879245115"/>
                  </a:ext>
                </a:extLst>
              </a:tr>
              <a:tr h="1255363">
                <a:tc>
                  <a:txBody>
                    <a:bodyPr/>
                    <a:lstStyle/>
                    <a:p>
                      <a:r>
                        <a:rPr lang="en-US" noProof="0" dirty="0">
                          <a:latin typeface="Consolas" panose="020B0609020204030204" pitchFamily="49" charset="0"/>
                          <a:hlinkClick r:id="rId3"/>
                        </a:rPr>
                        <a:t>COBOL-61 Extended (1963)</a:t>
                      </a:r>
                      <a:endParaRPr lang="en-US" noProof="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noProof="0" dirty="0">
                          <a:latin typeface="Consolas" panose="020B0609020204030204" pitchFamily="49" charset="0"/>
                        </a:rPr>
                        <a:t>Addition of the SORT verb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noProof="0" dirty="0">
                          <a:latin typeface="Consolas" panose="020B0609020204030204" pitchFamily="49" charset="0"/>
                        </a:rPr>
                        <a:t>Modification of </a:t>
                      </a:r>
                      <a:r>
                        <a:rPr lang="en-US" noProof="0" dirty="0" err="1">
                          <a:latin typeface="Consolas" panose="020B0609020204030204" pitchFamily="49" charset="0"/>
                        </a:rPr>
                        <a:t>arithmetics</a:t>
                      </a:r>
                      <a:r>
                        <a:rPr lang="en-US" noProof="0" dirty="0">
                          <a:latin typeface="Consolas" panose="020B0609020204030204" pitchFamily="49" charset="0"/>
                        </a:rPr>
                        <a:t> to accommodate multiple input fields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noProof="0" dirty="0">
                          <a:latin typeface="Consolas" panose="020B0609020204030204" pitchFamily="49" charset="0"/>
                        </a:rPr>
                        <a:t>Addition of the CORRESPONDING keyword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876533875"/>
                  </a:ext>
                </a:extLst>
              </a:tr>
              <a:tr h="1545062">
                <a:tc>
                  <a:txBody>
                    <a:bodyPr/>
                    <a:lstStyle/>
                    <a:p>
                      <a:r>
                        <a:rPr lang="en-US" noProof="0" dirty="0">
                          <a:latin typeface="Consolas" panose="020B0609020204030204" pitchFamily="49" charset="0"/>
                          <a:hlinkClick r:id="rId4"/>
                        </a:rPr>
                        <a:t>COBOL-65</a:t>
                      </a:r>
                      <a:endParaRPr lang="en-US" noProof="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noProof="0" dirty="0">
                          <a:latin typeface="Consolas" panose="020B0609020204030204" pitchFamily="49" charset="0"/>
                        </a:rPr>
                        <a:t>Inclusion of options for reading, writing, and processing of mass storage files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noProof="0" dirty="0">
                          <a:latin typeface="Consolas" panose="020B0609020204030204" pitchFamily="49" charset="0"/>
                        </a:rPr>
                        <a:t>Addition of table handling features, including indexing and search options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noProof="0" dirty="0">
                          <a:latin typeface="Consolas" panose="020B0609020204030204" pitchFamily="49" charset="0"/>
                        </a:rPr>
                        <a:t>Deletion of the terms REQUIRED and ELECTIVE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877496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564498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7E100-6AD4-DA49-579A-4F719C251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54E31-08D5-87A0-8694-61CB984440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latin typeface="Consolas" panose="020B0609020204030204" pitchFamily="49" charset="0"/>
              </a:rPr>
              <a:t>COBOL Revisions (Cont.)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6A9DDF0-D42A-6EE3-7835-90319F993DD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94361836"/>
              </p:ext>
            </p:extLst>
          </p:nvPr>
        </p:nvGraphicFramePr>
        <p:xfrm>
          <a:off x="914400" y="2076450"/>
          <a:ext cx="10353674" cy="3658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3227832">
                  <a:extLst>
                    <a:ext uri="{9D8B030D-6E8A-4147-A177-3AD203B41FA5}">
                      <a16:colId xmlns:a16="http://schemas.microsoft.com/office/drawing/2014/main" val="990930062"/>
                    </a:ext>
                  </a:extLst>
                </a:gridCol>
                <a:gridCol w="7125842">
                  <a:extLst>
                    <a:ext uri="{9D8B030D-6E8A-4147-A177-3AD203B41FA5}">
                      <a16:colId xmlns:a16="http://schemas.microsoft.com/office/drawing/2014/main" val="3807724847"/>
                    </a:ext>
                  </a:extLst>
                </a:gridCol>
              </a:tblGrid>
              <a:tr h="391630">
                <a:tc>
                  <a:txBody>
                    <a:bodyPr/>
                    <a:lstStyle/>
                    <a:p>
                      <a:r>
                        <a:rPr lang="en-US" noProof="0" dirty="0">
                          <a:latin typeface="Consolas" panose="020B0609020204030204" pitchFamily="49" charset="0"/>
                        </a:rPr>
                        <a:t>COBOL Version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>
                          <a:latin typeface="Consolas" panose="020B0609020204030204" pitchFamily="49" charset="0"/>
                        </a:rPr>
                        <a:t>Major Change(s)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370877640"/>
                  </a:ext>
                </a:extLst>
              </a:tr>
              <a:tr h="391630">
                <a:tc>
                  <a:txBody>
                    <a:bodyPr/>
                    <a:lstStyle/>
                    <a:p>
                      <a:r>
                        <a:rPr lang="en-US" noProof="0" dirty="0">
                          <a:latin typeface="Consolas" panose="020B0609020204030204" pitchFamily="49" charset="0"/>
                          <a:hlinkClick r:id="rId2"/>
                        </a:rPr>
                        <a:t>COBOL-68</a:t>
                      </a:r>
                      <a:r>
                        <a:rPr lang="en-US" noProof="0" dirty="0"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noProof="0" dirty="0">
                          <a:latin typeface="Consolas" panose="020B0609020204030204" pitchFamily="49" charset="0"/>
                        </a:rPr>
                        <a:t>Introduction of ANSI COBOL (USA Standard COBOL X3.23)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noProof="0" dirty="0">
                          <a:latin typeface="Consolas" panose="020B0609020204030204" pitchFamily="49" charset="0"/>
                        </a:rPr>
                        <a:t>Inclusion of inter-program communication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noProof="0" dirty="0">
                          <a:latin typeface="Consolas" panose="020B0609020204030204" pitchFamily="49" charset="0"/>
                        </a:rPr>
                        <a:t>Elimination of type 4 abbreviations (Omission of optional keywords in statements)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noProof="0" dirty="0">
                          <a:latin typeface="Consolas" panose="020B0609020204030204" pitchFamily="49" charset="0"/>
                        </a:rPr>
                        <a:t>Elimination of the DEFINE statement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noProof="0" dirty="0">
                          <a:latin typeface="Consolas" panose="020B0609020204030204" pitchFamily="49" charset="0"/>
                        </a:rPr>
                        <a:t>inclusion of the SUSPEND statement as additional means of controlling graphic display devices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879245115"/>
                  </a:ext>
                </a:extLst>
              </a:tr>
              <a:tr h="1255363">
                <a:tc>
                  <a:txBody>
                    <a:bodyPr/>
                    <a:lstStyle/>
                    <a:p>
                      <a:r>
                        <a:rPr lang="en-US" noProof="0" dirty="0">
                          <a:latin typeface="Consolas" panose="020B0609020204030204" pitchFamily="49" charset="0"/>
                          <a:hlinkClick r:id="rId3"/>
                        </a:rPr>
                        <a:t>COBOL-69</a:t>
                      </a:r>
                      <a:endParaRPr lang="en-US" noProof="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noProof="0" dirty="0">
                          <a:latin typeface="Consolas" panose="020B0609020204030204" pitchFamily="49" charset="0"/>
                        </a:rPr>
                        <a:t>deletion of the EXAMINE statement and;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noProof="0" dirty="0">
                          <a:latin typeface="Consolas" panose="020B0609020204030204" pitchFamily="49" charset="0"/>
                        </a:rPr>
                        <a:t>the inclusion of a more powerful statement, INSPECT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noProof="0" dirty="0">
                          <a:latin typeface="Consolas" panose="020B0609020204030204" pitchFamily="49" charset="0"/>
                        </a:rPr>
                        <a:t>inclusion of the STRING and UNSTRING statements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noProof="0" dirty="0">
                          <a:latin typeface="Consolas" panose="020B0609020204030204" pitchFamily="49" charset="0"/>
                        </a:rPr>
                        <a:t>Deletion of the CONSTANT SECTION of the Data Division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8765338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879365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1F6731-7BDD-B7F5-D158-E72BF883F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BE3DB2-B07B-729A-E9F1-7938EC45E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latin typeface="Consolas" panose="020B0609020204030204" pitchFamily="49" charset="0"/>
              </a:rPr>
              <a:t>COBOL Revisions (Cont.)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C988FD6-9A7B-E198-94E8-F73259B2C77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12345266"/>
              </p:ext>
            </p:extLst>
          </p:nvPr>
        </p:nvGraphicFramePr>
        <p:xfrm>
          <a:off x="914400" y="2076450"/>
          <a:ext cx="10353674" cy="331771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3227832">
                  <a:extLst>
                    <a:ext uri="{9D8B030D-6E8A-4147-A177-3AD203B41FA5}">
                      <a16:colId xmlns:a16="http://schemas.microsoft.com/office/drawing/2014/main" val="990930062"/>
                    </a:ext>
                  </a:extLst>
                </a:gridCol>
                <a:gridCol w="7125842">
                  <a:extLst>
                    <a:ext uri="{9D8B030D-6E8A-4147-A177-3AD203B41FA5}">
                      <a16:colId xmlns:a16="http://schemas.microsoft.com/office/drawing/2014/main" val="3807724847"/>
                    </a:ext>
                  </a:extLst>
                </a:gridCol>
              </a:tblGrid>
              <a:tr h="391630">
                <a:tc>
                  <a:txBody>
                    <a:bodyPr/>
                    <a:lstStyle/>
                    <a:p>
                      <a:r>
                        <a:rPr lang="en-US" noProof="0" dirty="0">
                          <a:latin typeface="Consolas" panose="020B0609020204030204" pitchFamily="49" charset="0"/>
                        </a:rPr>
                        <a:t>COBOL Version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>
                          <a:latin typeface="Consolas" panose="020B0609020204030204" pitchFamily="49" charset="0"/>
                        </a:rPr>
                        <a:t>Major Change(s)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370877640"/>
                  </a:ext>
                </a:extLst>
              </a:tr>
              <a:tr h="391630">
                <a:tc>
                  <a:txBody>
                    <a:bodyPr/>
                    <a:lstStyle/>
                    <a:p>
                      <a:r>
                        <a:rPr lang="en-US" noProof="0" dirty="0">
                          <a:latin typeface="Consolas" panose="020B0609020204030204" pitchFamily="49" charset="0"/>
                        </a:rPr>
                        <a:t>COBOL-70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noProof="0" dirty="0">
                          <a:latin typeface="Consolas" panose="020B0609020204030204" pitchFamily="49" charset="0"/>
                        </a:rPr>
                        <a:t>Inclusion of the INITIALIZE statement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noProof="0" dirty="0">
                          <a:latin typeface="Consolas" panose="020B0609020204030204" pitchFamily="49" charset="0"/>
                        </a:rPr>
                        <a:t>Inclusion of a debugging facility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noProof="0" dirty="0">
                          <a:latin typeface="Consolas" panose="020B0609020204030204" pitchFamily="49" charset="0"/>
                        </a:rPr>
                        <a:t>Inclusion of a merge facility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noProof="0" dirty="0">
                          <a:latin typeface="Consolas" panose="020B0609020204030204" pitchFamily="49" charset="0"/>
                        </a:rPr>
                        <a:t>Complete revision of the report writer function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879245115"/>
                  </a:ext>
                </a:extLst>
              </a:tr>
              <a:tr h="1255363">
                <a:tc>
                  <a:txBody>
                    <a:bodyPr/>
                    <a:lstStyle/>
                    <a:p>
                      <a:r>
                        <a:rPr lang="en-US" noProof="0" dirty="0">
                          <a:latin typeface="Consolas" panose="020B0609020204030204" pitchFamily="49" charset="0"/>
                          <a:hlinkClick r:id="rId2"/>
                        </a:rPr>
                        <a:t>COBOL-73</a:t>
                      </a:r>
                      <a:endParaRPr lang="en-US" noProof="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noProof="0" dirty="0">
                          <a:latin typeface="Consolas" panose="020B0609020204030204" pitchFamily="49" charset="0"/>
                        </a:rPr>
                        <a:t>Revision and extension to the mass storage facility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noProof="0" dirty="0">
                          <a:latin typeface="Consolas" panose="020B0609020204030204" pitchFamily="49" charset="0"/>
                        </a:rPr>
                        <a:t>Clarification and extension to the COBOL library facility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noProof="0" dirty="0">
                          <a:latin typeface="Consolas" panose="020B0609020204030204" pitchFamily="49" charset="0"/>
                        </a:rPr>
                        <a:t>Enhancement of the INSPECT statement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noProof="0" dirty="0">
                          <a:latin typeface="Consolas" panose="020B0609020204030204" pitchFamily="49" charset="0"/>
                        </a:rPr>
                        <a:t>Removal of the restriction on 77 level-numbers that they must precede 01 level numbers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8765338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218637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7A440-9864-CBD4-BD7E-8A9D44D60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55E10-9B68-2D01-8048-5A16389742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latin typeface="Consolas" panose="020B0609020204030204" pitchFamily="49" charset="0"/>
              </a:rPr>
              <a:t>COBOL Revisions (Cont.)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967BED9-9DC0-D445-0109-7CDDE042459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68776725"/>
              </p:ext>
            </p:extLst>
          </p:nvPr>
        </p:nvGraphicFramePr>
        <p:xfrm>
          <a:off x="914400" y="2076450"/>
          <a:ext cx="10353674" cy="331771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3227832">
                  <a:extLst>
                    <a:ext uri="{9D8B030D-6E8A-4147-A177-3AD203B41FA5}">
                      <a16:colId xmlns:a16="http://schemas.microsoft.com/office/drawing/2014/main" val="990930062"/>
                    </a:ext>
                  </a:extLst>
                </a:gridCol>
                <a:gridCol w="7125842">
                  <a:extLst>
                    <a:ext uri="{9D8B030D-6E8A-4147-A177-3AD203B41FA5}">
                      <a16:colId xmlns:a16="http://schemas.microsoft.com/office/drawing/2014/main" val="3807724847"/>
                    </a:ext>
                  </a:extLst>
                </a:gridCol>
              </a:tblGrid>
              <a:tr h="391630">
                <a:tc>
                  <a:txBody>
                    <a:bodyPr/>
                    <a:lstStyle/>
                    <a:p>
                      <a:r>
                        <a:rPr lang="en-US" noProof="0" dirty="0">
                          <a:latin typeface="Consolas" panose="020B0609020204030204" pitchFamily="49" charset="0"/>
                        </a:rPr>
                        <a:t>COBOL Version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>
                          <a:latin typeface="Consolas" panose="020B0609020204030204" pitchFamily="49" charset="0"/>
                        </a:rPr>
                        <a:t>Major Change(s)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370877640"/>
                  </a:ext>
                </a:extLst>
              </a:tr>
              <a:tr h="391630">
                <a:tc>
                  <a:txBody>
                    <a:bodyPr/>
                    <a:lstStyle/>
                    <a:p>
                      <a:r>
                        <a:rPr lang="en-US" noProof="0" dirty="0">
                          <a:latin typeface="Consolas" panose="020B0609020204030204" pitchFamily="49" charset="0"/>
                        </a:rPr>
                        <a:t>COBOL-76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noProof="0" dirty="0">
                          <a:latin typeface="Consolas" panose="020B0609020204030204" pitchFamily="49" charset="0"/>
                        </a:rPr>
                        <a:t>Inclusion of a </a:t>
                      </a:r>
                      <a:r>
                        <a:rPr lang="en-US" noProof="0" dirty="0" err="1">
                          <a:latin typeface="Consolas" panose="020B0609020204030204" pitchFamily="49" charset="0"/>
                        </a:rPr>
                        <a:t>boolean</a:t>
                      </a:r>
                      <a:r>
                        <a:rPr lang="en-US" noProof="0" dirty="0">
                          <a:latin typeface="Consolas" panose="020B0609020204030204" pitchFamily="49" charset="0"/>
                        </a:rPr>
                        <a:t> (bit) manipulation facility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noProof="0" dirty="0">
                          <a:latin typeface="Consolas" panose="020B0609020204030204" pitchFamily="49" charset="0"/>
                        </a:rPr>
                        <a:t>Inclusion of the DELETE FILE statement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noProof="0" dirty="0">
                          <a:latin typeface="Consolas" panose="020B0609020204030204" pitchFamily="49" charset="0"/>
                        </a:rPr>
                        <a:t>Inclusion of the PURGE statement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879245115"/>
                  </a:ext>
                </a:extLst>
              </a:tr>
              <a:tr h="1255363">
                <a:tc>
                  <a:txBody>
                    <a:bodyPr/>
                    <a:lstStyle/>
                    <a:p>
                      <a:r>
                        <a:rPr lang="en-US" noProof="0" dirty="0">
                          <a:latin typeface="Consolas" panose="020B0609020204030204" pitchFamily="49" charset="0"/>
                        </a:rPr>
                        <a:t>COBOL-78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noProof="0" dirty="0">
                          <a:latin typeface="Consolas" panose="020B0609020204030204" pitchFamily="49" charset="0"/>
                        </a:rPr>
                        <a:t>Inclusion of the ROLLBACK statement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noProof="0" dirty="0">
                          <a:latin typeface="Consolas" panose="020B0609020204030204" pitchFamily="49" charset="0"/>
                        </a:rPr>
                        <a:t>Inclusion of the REPLACE statement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noProof="0" dirty="0">
                          <a:latin typeface="Consolas" panose="020B0609020204030204" pitchFamily="49" charset="0"/>
                        </a:rPr>
                        <a:t>Inclusion of a data base locking facility to maintain data base integrity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noProof="0" dirty="0">
                          <a:latin typeface="Consolas" panose="020B0609020204030204" pitchFamily="49" charset="0"/>
                        </a:rPr>
                        <a:t>Inclusion of an inter-program communication facility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noProof="0" dirty="0">
                          <a:latin typeface="Consolas" panose="020B0609020204030204" pitchFamily="49" charset="0"/>
                        </a:rPr>
                        <a:t>Inclusion of facility to control input-output in separately compiled programs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8765338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9651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342865-1CDF-6454-41C0-397141D0E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82D313-592B-FD9C-B2D1-38437D333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latin typeface="Consolas" panose="020B0609020204030204" pitchFamily="49" charset="0"/>
              </a:rPr>
              <a:t>COBOL Revisions (Cont.)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7B196F8-6939-BDE2-122E-0291C0E0B70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8465490"/>
              </p:ext>
            </p:extLst>
          </p:nvPr>
        </p:nvGraphicFramePr>
        <p:xfrm>
          <a:off x="914400" y="2076450"/>
          <a:ext cx="10353674" cy="359203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3227832">
                  <a:extLst>
                    <a:ext uri="{9D8B030D-6E8A-4147-A177-3AD203B41FA5}">
                      <a16:colId xmlns:a16="http://schemas.microsoft.com/office/drawing/2014/main" val="990930062"/>
                    </a:ext>
                  </a:extLst>
                </a:gridCol>
                <a:gridCol w="7125842">
                  <a:extLst>
                    <a:ext uri="{9D8B030D-6E8A-4147-A177-3AD203B41FA5}">
                      <a16:colId xmlns:a16="http://schemas.microsoft.com/office/drawing/2014/main" val="3807724847"/>
                    </a:ext>
                  </a:extLst>
                </a:gridCol>
              </a:tblGrid>
              <a:tr h="391630">
                <a:tc>
                  <a:txBody>
                    <a:bodyPr/>
                    <a:lstStyle/>
                    <a:p>
                      <a:r>
                        <a:rPr lang="en-US" noProof="0" dirty="0">
                          <a:latin typeface="Consolas" panose="020B0609020204030204" pitchFamily="49" charset="0"/>
                        </a:rPr>
                        <a:t>COBOL Version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>
                          <a:latin typeface="Consolas" panose="020B0609020204030204" pitchFamily="49" charset="0"/>
                        </a:rPr>
                        <a:t>Major Change(s)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370877640"/>
                  </a:ext>
                </a:extLst>
              </a:tr>
              <a:tr h="391630">
                <a:tc>
                  <a:txBody>
                    <a:bodyPr/>
                    <a:lstStyle/>
                    <a:p>
                      <a:r>
                        <a:rPr lang="en-US" noProof="0" dirty="0">
                          <a:latin typeface="Consolas" panose="020B0609020204030204" pitchFamily="49" charset="0"/>
                        </a:rPr>
                        <a:t>COBOL-80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noProof="0" dirty="0">
                          <a:latin typeface="Consolas" panose="020B0609020204030204" pitchFamily="49" charset="0"/>
                        </a:rPr>
                        <a:t>Deletion of the DATA RECORDS clause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noProof="0" dirty="0">
                          <a:latin typeface="Consolas" panose="020B0609020204030204" pitchFamily="49" charset="0"/>
                        </a:rPr>
                        <a:t>Deletion of the CORRESPONDING option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noProof="0" dirty="0">
                          <a:latin typeface="Consolas" panose="020B0609020204030204" pitchFamily="49" charset="0"/>
                        </a:rPr>
                        <a:t>Inclusion of an EXIT PERFORM statement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noProof="0" dirty="0">
                          <a:latin typeface="Consolas" panose="020B0609020204030204" pitchFamily="49" charset="0"/>
                        </a:rPr>
                        <a:t>Change to the CALL statement to allow languages other than COBOL to be called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noProof="0" dirty="0">
                          <a:latin typeface="Consolas" panose="020B0609020204030204" pitchFamily="49" charset="0"/>
                        </a:rPr>
                        <a:t>Semantics for lowercase letters were defined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879245115"/>
                  </a:ext>
                </a:extLst>
              </a:tr>
              <a:tr h="1255363">
                <a:tc>
                  <a:txBody>
                    <a:bodyPr/>
                    <a:lstStyle/>
                    <a:p>
                      <a:r>
                        <a:rPr lang="en-US" noProof="0" dirty="0">
                          <a:latin typeface="Consolas" panose="020B0609020204030204" pitchFamily="49" charset="0"/>
                          <a:hlinkClick r:id="rId2"/>
                        </a:rPr>
                        <a:t>COBOL-85</a:t>
                      </a:r>
                      <a:endParaRPr lang="en-US" noProof="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noProof="0" dirty="0">
                          <a:latin typeface="Consolas" panose="020B0609020204030204" pitchFamily="49" charset="0"/>
                        </a:rPr>
                        <a:t>Inclusion of scope terminators (END-IF, END-PERFORM, END-READ)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noProof="0" dirty="0">
                          <a:latin typeface="Consolas" panose="020B0609020204030204" pitchFamily="49" charset="0"/>
                        </a:rPr>
                        <a:t>Inclusion of EVALUATE statement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noProof="0" dirty="0">
                          <a:latin typeface="Consolas" panose="020B0609020204030204" pitchFamily="49" charset="0"/>
                        </a:rPr>
                        <a:t>Inclusion of CONTINUE statement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noProof="0" dirty="0">
                          <a:latin typeface="Consolas" panose="020B0609020204030204" pitchFamily="49" charset="0"/>
                        </a:rPr>
                        <a:t>Introduction of nested subprograms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8765338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858903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C56D2-C5A2-B453-E60E-9A565746C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F9A09-06CF-2755-DCCD-B2012B9AD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latin typeface="Consolas" panose="020B0609020204030204" pitchFamily="49" charset="0"/>
              </a:rPr>
              <a:t>COBOL Revisions (Cont.)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469EF41-5115-F8C8-6A41-ED873327C71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99777723"/>
              </p:ext>
            </p:extLst>
          </p:nvPr>
        </p:nvGraphicFramePr>
        <p:xfrm>
          <a:off x="914400" y="2076450"/>
          <a:ext cx="10353674" cy="368347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3227832">
                  <a:extLst>
                    <a:ext uri="{9D8B030D-6E8A-4147-A177-3AD203B41FA5}">
                      <a16:colId xmlns:a16="http://schemas.microsoft.com/office/drawing/2014/main" val="990930062"/>
                    </a:ext>
                  </a:extLst>
                </a:gridCol>
                <a:gridCol w="7125842">
                  <a:extLst>
                    <a:ext uri="{9D8B030D-6E8A-4147-A177-3AD203B41FA5}">
                      <a16:colId xmlns:a16="http://schemas.microsoft.com/office/drawing/2014/main" val="3807724847"/>
                    </a:ext>
                  </a:extLst>
                </a:gridCol>
              </a:tblGrid>
              <a:tr h="391630">
                <a:tc>
                  <a:txBody>
                    <a:bodyPr/>
                    <a:lstStyle/>
                    <a:p>
                      <a:r>
                        <a:rPr lang="en-US" noProof="0" dirty="0">
                          <a:latin typeface="Consolas" panose="020B0609020204030204" pitchFamily="49" charset="0"/>
                        </a:rPr>
                        <a:t>COBOL Version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>
                          <a:latin typeface="Consolas" panose="020B0609020204030204" pitchFamily="49" charset="0"/>
                        </a:rPr>
                        <a:t>Major Change(s)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370877640"/>
                  </a:ext>
                </a:extLst>
              </a:tr>
              <a:tr h="391630">
                <a:tc>
                  <a:txBody>
                    <a:bodyPr/>
                    <a:lstStyle/>
                    <a:p>
                      <a:r>
                        <a:rPr lang="en-US" noProof="0" dirty="0">
                          <a:latin typeface="Consolas" panose="020B0609020204030204" pitchFamily="49" charset="0"/>
                        </a:rPr>
                        <a:t>COBOL 2002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noProof="0" dirty="0">
                          <a:latin typeface="Consolas" panose="020B0609020204030204" pitchFamily="49" charset="0"/>
                        </a:rPr>
                        <a:t>Object-Oriented COBOL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noProof="0" dirty="0">
                          <a:latin typeface="Consolas" panose="020B0609020204030204" pitchFamily="49" charset="0"/>
                        </a:rPr>
                        <a:t>Introduction of user-defined functions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noProof="0" dirty="0">
                          <a:latin typeface="Consolas" panose="020B0609020204030204" pitchFamily="49" charset="0"/>
                        </a:rPr>
                        <a:t>Introduction of user-defined data types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879245115"/>
                  </a:ext>
                </a:extLst>
              </a:tr>
              <a:tr h="257632">
                <a:tc>
                  <a:txBody>
                    <a:bodyPr/>
                    <a:lstStyle/>
                    <a:p>
                      <a:r>
                        <a:rPr lang="en-US" noProof="0" dirty="0">
                          <a:latin typeface="Consolas" panose="020B0609020204030204" pitchFamily="49" charset="0"/>
                        </a:rPr>
                        <a:t>COBOL 2014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noProof="0" dirty="0">
                          <a:latin typeface="Consolas" panose="020B0609020204030204" pitchFamily="49" charset="0"/>
                        </a:rPr>
                        <a:t>Introduction of object finalization (garbage collector)</a:t>
                      </a:r>
                    </a:p>
                    <a:p>
                      <a:pPr marL="285750" marR="0" lvl="0" indent="-28575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noProof="0" dirty="0">
                          <a:latin typeface="Consolas" panose="020B0609020204030204" pitchFamily="49" charset="0"/>
                        </a:rPr>
                        <a:t>XML processing capabilities</a:t>
                      </a:r>
                    </a:p>
                    <a:p>
                      <a:pPr marL="285750" marR="0" lvl="0" indent="-28575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noProof="0" dirty="0">
                          <a:latin typeface="Consolas" panose="020B0609020204030204" pitchFamily="49" charset="0"/>
                        </a:rPr>
                        <a:t>Dynamic memory allocation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876533875"/>
                  </a:ext>
                </a:extLst>
              </a:tr>
              <a:tr h="668312">
                <a:tc>
                  <a:txBody>
                    <a:bodyPr/>
                    <a:lstStyle/>
                    <a:p>
                      <a:r>
                        <a:rPr lang="en-US" noProof="0" dirty="0">
                          <a:latin typeface="Consolas" panose="020B0609020204030204" pitchFamily="49" charset="0"/>
                        </a:rPr>
                        <a:t>COBOL 2023 (Latest)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noProof="0" dirty="0">
                          <a:latin typeface="Consolas" panose="020B0609020204030204" pitchFamily="49" charset="0"/>
                        </a:rPr>
                        <a:t>Asynchronous message syntax using SEND and RECEIVE statements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noProof="0" dirty="0">
                          <a:latin typeface="Consolas" panose="020B0609020204030204" pitchFamily="49" charset="0"/>
                        </a:rPr>
                        <a:t>XOR logical operator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noProof="0" dirty="0">
                          <a:latin typeface="Consolas" panose="020B0609020204030204" pitchFamily="49" charset="0"/>
                        </a:rPr>
                        <a:t>Defined infinite loop with PERFORM UNTIL EXIT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8342674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58915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8" name="Rectangle 1037">
            <a:extLst>
              <a:ext uri="{FF2B5EF4-FFF2-40B4-BE49-F238E27FC236}">
                <a16:creationId xmlns:a16="http://schemas.microsoft.com/office/drawing/2014/main" id="{766CDA4A-6CAA-4FED-A424-FF9D363E93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5DA5DA-6F90-88EC-E73A-7C033C895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0693" y="4435229"/>
            <a:ext cx="9440034" cy="105964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>
                <a:latin typeface="Consolas" panose="020B0609020204030204" pitchFamily="49" charset="0"/>
              </a:rPr>
              <a:t>COBOL Program Structure</a:t>
            </a:r>
          </a:p>
        </p:txBody>
      </p:sp>
      <p:pic>
        <p:nvPicPr>
          <p:cNvPr id="1040" name="Picture 1039">
            <a:extLst>
              <a:ext uri="{FF2B5EF4-FFF2-40B4-BE49-F238E27FC236}">
                <a16:creationId xmlns:a16="http://schemas.microsoft.com/office/drawing/2014/main" id="{9B0DB875-49E3-4B9D-8AAE-D81A127B66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pic>
        <p:nvPicPr>
          <p:cNvPr id="1026" name="Picture 2" descr="7 cobol examples with explanations. | by Yvan Scher | Medium">
            <a:extLst>
              <a:ext uri="{FF2B5EF4-FFF2-40B4-BE49-F238E27FC236}">
                <a16:creationId xmlns:a16="http://schemas.microsoft.com/office/drawing/2014/main" id="{CD6913E6-BCB4-CB8E-A9F1-73FDF94DE9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18" r="-1" b="17288"/>
          <a:stretch>
            <a:fillRect/>
          </a:stretch>
        </p:blipFill>
        <p:spPr bwMode="auto">
          <a:xfrm>
            <a:off x="1169349" y="695008"/>
            <a:ext cx="9845346" cy="3525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71961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8761467-7640-47B1-90D4-04ADAD632C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9" name="Freeform: Shape 18">
            <a:extLst>
              <a:ext uri="{FF2B5EF4-FFF2-40B4-BE49-F238E27FC236}">
                <a16:creationId xmlns:a16="http://schemas.microsoft.com/office/drawing/2014/main" id="{738B1503-6FE9-46B4-9354-E943D91B1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805514" y="-2"/>
            <a:ext cx="8386486" cy="6858002"/>
          </a:xfrm>
          <a:custGeom>
            <a:avLst/>
            <a:gdLst>
              <a:gd name="connsiteX0" fmla="*/ 0 w 6088489"/>
              <a:gd name="connsiteY0" fmla="*/ 0 h 6858002"/>
              <a:gd name="connsiteX1" fmla="*/ 3563332 w 6088489"/>
              <a:gd name="connsiteY1" fmla="*/ 0 h 6858002"/>
              <a:gd name="connsiteX2" fmla="*/ 3563332 w 6088489"/>
              <a:gd name="connsiteY2" fmla="*/ 3 h 6858002"/>
              <a:gd name="connsiteX3" fmla="*/ 5842099 w 6088489"/>
              <a:gd name="connsiteY3" fmla="*/ 3 h 6858002"/>
              <a:gd name="connsiteX4" fmla="*/ 5842099 w 6088489"/>
              <a:gd name="connsiteY4" fmla="*/ 4 h 6858002"/>
              <a:gd name="connsiteX5" fmla="*/ 5835346 w 6088489"/>
              <a:gd name="connsiteY5" fmla="*/ 4 h 6858002"/>
              <a:gd name="connsiteX6" fmla="*/ 5841229 w 6088489"/>
              <a:gd name="connsiteY6" fmla="*/ 40466 h 6858002"/>
              <a:gd name="connsiteX7" fmla="*/ 5858543 w 6088489"/>
              <a:gd name="connsiteY7" fmla="*/ 159110 h 6858002"/>
              <a:gd name="connsiteX8" fmla="*/ 5870645 w 6088489"/>
              <a:gd name="connsiteY8" fmla="*/ 245521 h 6858002"/>
              <a:gd name="connsiteX9" fmla="*/ 5883420 w 6088489"/>
              <a:gd name="connsiteY9" fmla="*/ 348391 h 6858002"/>
              <a:gd name="connsiteX10" fmla="*/ 5898716 w 6088489"/>
              <a:gd name="connsiteY10" fmla="*/ 470463 h 6858002"/>
              <a:gd name="connsiteX11" fmla="*/ 5914853 w 6088489"/>
              <a:gd name="connsiteY11" fmla="*/ 605566 h 6858002"/>
              <a:gd name="connsiteX12" fmla="*/ 5931830 w 6088489"/>
              <a:gd name="connsiteY12" fmla="*/ 757813 h 6858002"/>
              <a:gd name="connsiteX13" fmla="*/ 5949815 w 6088489"/>
              <a:gd name="connsiteY13" fmla="*/ 923777 h 6858002"/>
              <a:gd name="connsiteX14" fmla="*/ 5967801 w 6088489"/>
              <a:gd name="connsiteY14" fmla="*/ 1104142 h 6858002"/>
              <a:gd name="connsiteX15" fmla="*/ 5986122 w 6088489"/>
              <a:gd name="connsiteY15" fmla="*/ 1296166 h 6858002"/>
              <a:gd name="connsiteX16" fmla="*/ 6003099 w 6088489"/>
              <a:gd name="connsiteY16" fmla="*/ 1503278 h 6858002"/>
              <a:gd name="connsiteX17" fmla="*/ 6019404 w 6088489"/>
              <a:gd name="connsiteY17" fmla="*/ 1719991 h 6858002"/>
              <a:gd name="connsiteX18" fmla="*/ 6034196 w 6088489"/>
              <a:gd name="connsiteY18" fmla="*/ 1949048 h 6858002"/>
              <a:gd name="connsiteX19" fmla="*/ 6048315 w 6088489"/>
              <a:gd name="connsiteY19" fmla="*/ 2187706 h 6858002"/>
              <a:gd name="connsiteX20" fmla="*/ 6061595 w 6088489"/>
              <a:gd name="connsiteY20" fmla="*/ 2436652 h 6858002"/>
              <a:gd name="connsiteX21" fmla="*/ 6066301 w 6088489"/>
              <a:gd name="connsiteY21" fmla="*/ 2564211 h 6858002"/>
              <a:gd name="connsiteX22" fmla="*/ 6071512 w 6088489"/>
              <a:gd name="connsiteY22" fmla="*/ 2694512 h 6858002"/>
              <a:gd name="connsiteX23" fmla="*/ 6076386 w 6088489"/>
              <a:gd name="connsiteY23" fmla="*/ 2826871 h 6858002"/>
              <a:gd name="connsiteX24" fmla="*/ 6079580 w 6088489"/>
              <a:gd name="connsiteY24" fmla="*/ 2959917 h 6858002"/>
              <a:gd name="connsiteX25" fmla="*/ 6082438 w 6088489"/>
              <a:gd name="connsiteY25" fmla="*/ 3095705 h 6858002"/>
              <a:gd name="connsiteX26" fmla="*/ 6085463 w 6088489"/>
              <a:gd name="connsiteY26" fmla="*/ 3232865 h 6858002"/>
              <a:gd name="connsiteX27" fmla="*/ 6087480 w 6088489"/>
              <a:gd name="connsiteY27" fmla="*/ 3372768 h 6858002"/>
              <a:gd name="connsiteX28" fmla="*/ 6087480 w 6088489"/>
              <a:gd name="connsiteY28" fmla="*/ 3514043 h 6858002"/>
              <a:gd name="connsiteX29" fmla="*/ 6088489 w 6088489"/>
              <a:gd name="connsiteY29" fmla="*/ 3656689 h 6858002"/>
              <a:gd name="connsiteX30" fmla="*/ 6087480 w 6088489"/>
              <a:gd name="connsiteY30" fmla="*/ 3800707 h 6858002"/>
              <a:gd name="connsiteX31" fmla="*/ 6085463 w 6088489"/>
              <a:gd name="connsiteY31" fmla="*/ 3946783 h 6858002"/>
              <a:gd name="connsiteX32" fmla="*/ 6083614 w 6088489"/>
              <a:gd name="connsiteY32" fmla="*/ 4092858 h 6858002"/>
              <a:gd name="connsiteX33" fmla="*/ 6079580 w 6088489"/>
              <a:gd name="connsiteY33" fmla="*/ 4240991 h 6858002"/>
              <a:gd name="connsiteX34" fmla="*/ 6075378 w 6088489"/>
              <a:gd name="connsiteY34" fmla="*/ 4390495 h 6858002"/>
              <a:gd name="connsiteX35" fmla="*/ 6070503 w 6088489"/>
              <a:gd name="connsiteY35" fmla="*/ 4540000 h 6858002"/>
              <a:gd name="connsiteX36" fmla="*/ 6063612 w 6088489"/>
              <a:gd name="connsiteY36" fmla="*/ 4690876 h 6858002"/>
              <a:gd name="connsiteX37" fmla="*/ 6055375 w 6088489"/>
              <a:gd name="connsiteY37" fmla="*/ 4843123 h 6858002"/>
              <a:gd name="connsiteX38" fmla="*/ 6047475 w 6088489"/>
              <a:gd name="connsiteY38" fmla="*/ 4996057 h 6858002"/>
              <a:gd name="connsiteX39" fmla="*/ 6037390 w 6088489"/>
              <a:gd name="connsiteY39" fmla="*/ 5148990 h 6858002"/>
              <a:gd name="connsiteX40" fmla="*/ 6025287 w 6088489"/>
              <a:gd name="connsiteY40" fmla="*/ 5303981 h 6858002"/>
              <a:gd name="connsiteX41" fmla="*/ 6013185 w 6088489"/>
              <a:gd name="connsiteY41" fmla="*/ 5456914 h 6858002"/>
              <a:gd name="connsiteX42" fmla="*/ 5999233 w 6088489"/>
              <a:gd name="connsiteY42" fmla="*/ 5612591 h 6858002"/>
              <a:gd name="connsiteX43" fmla="*/ 5983937 w 6088489"/>
              <a:gd name="connsiteY43" fmla="*/ 5768953 h 6858002"/>
              <a:gd name="connsiteX44" fmla="*/ 5967801 w 6088489"/>
              <a:gd name="connsiteY44" fmla="*/ 5923258 h 6858002"/>
              <a:gd name="connsiteX45" fmla="*/ 5948975 w 6088489"/>
              <a:gd name="connsiteY45" fmla="*/ 6079621 h 6858002"/>
              <a:gd name="connsiteX46" fmla="*/ 5928804 w 6088489"/>
              <a:gd name="connsiteY46" fmla="*/ 6235297 h 6858002"/>
              <a:gd name="connsiteX47" fmla="*/ 5908801 w 6088489"/>
              <a:gd name="connsiteY47" fmla="*/ 6391660 h 6858002"/>
              <a:gd name="connsiteX48" fmla="*/ 5885437 w 6088489"/>
              <a:gd name="connsiteY48" fmla="*/ 6547336 h 6858002"/>
              <a:gd name="connsiteX49" fmla="*/ 5861568 w 6088489"/>
              <a:gd name="connsiteY49" fmla="*/ 6702327 h 6858002"/>
              <a:gd name="connsiteX50" fmla="*/ 5836524 w 6088489"/>
              <a:gd name="connsiteY50" fmla="*/ 6858002 h 6858002"/>
              <a:gd name="connsiteX51" fmla="*/ 3563332 w 6088489"/>
              <a:gd name="connsiteY51" fmla="*/ 6858002 h 6858002"/>
              <a:gd name="connsiteX52" fmla="*/ 1223490 w 6088489"/>
              <a:gd name="connsiteY52" fmla="*/ 6858002 h 6858002"/>
              <a:gd name="connsiteX53" fmla="*/ 0 w 6088489"/>
              <a:gd name="connsiteY53" fmla="*/ 6858002 h 6858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</a:cxnLst>
            <a:rect l="l" t="t" r="r" b="b"/>
            <a:pathLst>
              <a:path w="6088489" h="6858002">
                <a:moveTo>
                  <a:pt x="0" y="0"/>
                </a:moveTo>
                <a:lnTo>
                  <a:pt x="3563332" y="0"/>
                </a:lnTo>
                <a:lnTo>
                  <a:pt x="3563332" y="3"/>
                </a:lnTo>
                <a:lnTo>
                  <a:pt x="5842099" y="3"/>
                </a:lnTo>
                <a:lnTo>
                  <a:pt x="5842099" y="4"/>
                </a:lnTo>
                <a:lnTo>
                  <a:pt x="5835346" y="4"/>
                </a:lnTo>
                <a:lnTo>
                  <a:pt x="5841229" y="40466"/>
                </a:lnTo>
                <a:lnTo>
                  <a:pt x="5858543" y="159110"/>
                </a:lnTo>
                <a:lnTo>
                  <a:pt x="5870645" y="245521"/>
                </a:lnTo>
                <a:lnTo>
                  <a:pt x="5883420" y="348391"/>
                </a:lnTo>
                <a:lnTo>
                  <a:pt x="5898716" y="470463"/>
                </a:lnTo>
                <a:lnTo>
                  <a:pt x="5914853" y="605566"/>
                </a:lnTo>
                <a:lnTo>
                  <a:pt x="5931830" y="757813"/>
                </a:lnTo>
                <a:lnTo>
                  <a:pt x="5949815" y="923777"/>
                </a:lnTo>
                <a:lnTo>
                  <a:pt x="5967801" y="1104142"/>
                </a:lnTo>
                <a:lnTo>
                  <a:pt x="5986122" y="1296166"/>
                </a:lnTo>
                <a:lnTo>
                  <a:pt x="6003099" y="1503278"/>
                </a:lnTo>
                <a:lnTo>
                  <a:pt x="6019404" y="1719991"/>
                </a:lnTo>
                <a:lnTo>
                  <a:pt x="6034196" y="1949048"/>
                </a:lnTo>
                <a:lnTo>
                  <a:pt x="6048315" y="2187706"/>
                </a:lnTo>
                <a:lnTo>
                  <a:pt x="6061595" y="2436652"/>
                </a:lnTo>
                <a:lnTo>
                  <a:pt x="6066301" y="2564211"/>
                </a:lnTo>
                <a:lnTo>
                  <a:pt x="6071512" y="2694512"/>
                </a:lnTo>
                <a:lnTo>
                  <a:pt x="6076386" y="2826871"/>
                </a:lnTo>
                <a:lnTo>
                  <a:pt x="6079580" y="2959917"/>
                </a:lnTo>
                <a:lnTo>
                  <a:pt x="6082438" y="3095705"/>
                </a:lnTo>
                <a:lnTo>
                  <a:pt x="6085463" y="3232865"/>
                </a:lnTo>
                <a:lnTo>
                  <a:pt x="6087480" y="3372768"/>
                </a:lnTo>
                <a:lnTo>
                  <a:pt x="6087480" y="3514043"/>
                </a:lnTo>
                <a:lnTo>
                  <a:pt x="6088489" y="3656689"/>
                </a:lnTo>
                <a:lnTo>
                  <a:pt x="6087480" y="3800707"/>
                </a:lnTo>
                <a:lnTo>
                  <a:pt x="6085463" y="3946783"/>
                </a:lnTo>
                <a:lnTo>
                  <a:pt x="6083614" y="4092858"/>
                </a:lnTo>
                <a:lnTo>
                  <a:pt x="6079580" y="4240991"/>
                </a:lnTo>
                <a:lnTo>
                  <a:pt x="6075378" y="4390495"/>
                </a:lnTo>
                <a:lnTo>
                  <a:pt x="6070503" y="4540000"/>
                </a:lnTo>
                <a:lnTo>
                  <a:pt x="6063612" y="4690876"/>
                </a:lnTo>
                <a:lnTo>
                  <a:pt x="6055375" y="4843123"/>
                </a:lnTo>
                <a:lnTo>
                  <a:pt x="6047475" y="4996057"/>
                </a:lnTo>
                <a:lnTo>
                  <a:pt x="6037390" y="5148990"/>
                </a:lnTo>
                <a:lnTo>
                  <a:pt x="6025287" y="5303981"/>
                </a:lnTo>
                <a:lnTo>
                  <a:pt x="6013185" y="5456914"/>
                </a:lnTo>
                <a:lnTo>
                  <a:pt x="5999233" y="5612591"/>
                </a:lnTo>
                <a:lnTo>
                  <a:pt x="5983937" y="5768953"/>
                </a:lnTo>
                <a:lnTo>
                  <a:pt x="5967801" y="5923258"/>
                </a:lnTo>
                <a:lnTo>
                  <a:pt x="5948975" y="6079621"/>
                </a:lnTo>
                <a:lnTo>
                  <a:pt x="5928804" y="6235297"/>
                </a:lnTo>
                <a:lnTo>
                  <a:pt x="5908801" y="6391660"/>
                </a:lnTo>
                <a:lnTo>
                  <a:pt x="5885437" y="6547336"/>
                </a:lnTo>
                <a:lnTo>
                  <a:pt x="5861568" y="6702327"/>
                </a:lnTo>
                <a:lnTo>
                  <a:pt x="5836524" y="6858002"/>
                </a:lnTo>
                <a:lnTo>
                  <a:pt x="3563332" y="6858002"/>
                </a:lnTo>
                <a:lnTo>
                  <a:pt x="1223490" y="6858002"/>
                </a:lnTo>
                <a:lnTo>
                  <a:pt x="0" y="6858002"/>
                </a:lnTo>
                <a:close/>
              </a:path>
            </a:pathLst>
          </a:custGeom>
          <a:ln>
            <a:noFill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A32CE53-9924-5792-2AB2-2EDF9F187E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4295" y="965196"/>
            <a:ext cx="6197686" cy="1371604"/>
          </a:xfrm>
        </p:spPr>
        <p:txBody>
          <a:bodyPr>
            <a:normAutofit/>
          </a:bodyPr>
          <a:lstStyle/>
          <a:p>
            <a:pPr algn="l"/>
            <a:r>
              <a:rPr lang="en-PH" dirty="0">
                <a:latin typeface="Consolas" panose="020B0609020204030204" pitchFamily="49" charset="0"/>
              </a:rPr>
              <a:t>Program Structure</a:t>
            </a:r>
          </a:p>
        </p:txBody>
      </p:sp>
      <p:pic>
        <p:nvPicPr>
          <p:cNvPr id="7" name="Graphic 6" descr="Hierarchy">
            <a:extLst>
              <a:ext uri="{FF2B5EF4-FFF2-40B4-BE49-F238E27FC236}">
                <a16:creationId xmlns:a16="http://schemas.microsoft.com/office/drawing/2014/main" id="{CADC99EA-0C2E-2FC4-8B42-666C8B4582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4332" y="2170143"/>
            <a:ext cx="2517715" cy="2517715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530AC-62CF-ADA2-A55A-E0BF0303AD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4" y="2336800"/>
            <a:ext cx="6470905" cy="3740150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90000"/>
              </a:lnSpc>
              <a:buFont typeface="Wingdings" panose="05000000000000000000" pitchFamily="2" charset="2"/>
              <a:buChar char="§"/>
            </a:pPr>
            <a:r>
              <a:rPr lang="en-PH" sz="2000" dirty="0">
                <a:effectLst/>
                <a:latin typeface="Consolas" panose="020B0609020204030204" pitchFamily="49" charset="0"/>
              </a:rPr>
              <a:t>COBOL has a hierarchical structure that comprises divisions, sections, paragraphs, sentences, verbs and character strings.</a:t>
            </a:r>
          </a:p>
          <a:p>
            <a:pPr>
              <a:lnSpc>
                <a:spcPct val="90000"/>
              </a:lnSpc>
              <a:buFont typeface="Wingdings" panose="05000000000000000000" pitchFamily="2" charset="2"/>
              <a:buChar char="§"/>
            </a:pPr>
            <a:r>
              <a:rPr lang="en-US" sz="2000" dirty="0">
                <a:effectLst/>
                <a:latin typeface="Consolas" panose="020B0609020204030204" pitchFamily="49" charset="0"/>
              </a:rPr>
              <a:t>The divisional nature of a COBOL system (which comprises four divisions) enables a distinct separation of concerns within COBOL programs</a:t>
            </a:r>
          </a:p>
          <a:p>
            <a:pPr>
              <a:lnSpc>
                <a:spcPct val="90000"/>
              </a:lnSpc>
              <a:buFont typeface="Wingdings" panose="05000000000000000000" pitchFamily="2" charset="2"/>
              <a:buChar char="§"/>
            </a:pPr>
            <a:r>
              <a:rPr lang="en-US" sz="2000" dirty="0">
                <a:effectLst/>
                <a:latin typeface="Consolas" panose="020B0609020204030204" pitchFamily="49" charset="0"/>
              </a:rPr>
              <a:t>COBOL divisions are as follows:</a:t>
            </a:r>
          </a:p>
          <a:p>
            <a:pPr lvl="1">
              <a:lnSpc>
                <a:spcPct val="90000"/>
              </a:lnSpc>
              <a:buFont typeface="Wingdings" panose="05000000000000000000" pitchFamily="2" charset="2"/>
              <a:buChar char="§"/>
            </a:pPr>
            <a:r>
              <a:rPr lang="en-US" sz="2000" dirty="0">
                <a:effectLst/>
                <a:latin typeface="Consolas" panose="020B0609020204030204" pitchFamily="49" charset="0"/>
              </a:rPr>
              <a:t>Identification division</a:t>
            </a:r>
          </a:p>
          <a:p>
            <a:pPr lvl="1">
              <a:lnSpc>
                <a:spcPct val="90000"/>
              </a:lnSpc>
              <a:buFont typeface="Wingdings" panose="05000000000000000000" pitchFamily="2" charset="2"/>
              <a:buChar char="§"/>
            </a:pPr>
            <a:r>
              <a:rPr lang="en-US" sz="2000" dirty="0">
                <a:effectLst/>
                <a:latin typeface="Consolas" panose="020B0609020204030204" pitchFamily="49" charset="0"/>
              </a:rPr>
              <a:t>Environment division</a:t>
            </a:r>
          </a:p>
          <a:p>
            <a:pPr lvl="1">
              <a:lnSpc>
                <a:spcPct val="90000"/>
              </a:lnSpc>
              <a:buFont typeface="Wingdings" panose="05000000000000000000" pitchFamily="2" charset="2"/>
              <a:buChar char="§"/>
            </a:pPr>
            <a:r>
              <a:rPr lang="en-US" sz="2000" dirty="0">
                <a:effectLst/>
                <a:latin typeface="Consolas" panose="020B0609020204030204" pitchFamily="49" charset="0"/>
              </a:rPr>
              <a:t>Data division</a:t>
            </a:r>
          </a:p>
          <a:p>
            <a:pPr lvl="1">
              <a:lnSpc>
                <a:spcPct val="90000"/>
              </a:lnSpc>
              <a:buFont typeface="Wingdings" panose="05000000000000000000" pitchFamily="2" charset="2"/>
              <a:buChar char="§"/>
            </a:pPr>
            <a:r>
              <a:rPr lang="en-US" sz="2000" dirty="0">
                <a:effectLst/>
                <a:latin typeface="Consolas" panose="020B0609020204030204" pitchFamily="49" charset="0"/>
              </a:rPr>
              <a:t>Procedure division</a:t>
            </a:r>
            <a:endParaRPr lang="en-PH" sz="2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66486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A6C2C86-63BF-47D5-AA3F-905111A238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FCE7B5-8275-BC21-A922-FCB459D159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1716" y="1115568"/>
            <a:ext cx="3820587" cy="4626864"/>
          </a:xfrm>
        </p:spPr>
        <p:txBody>
          <a:bodyPr>
            <a:normAutofit/>
          </a:bodyPr>
          <a:lstStyle/>
          <a:p>
            <a:pPr algn="l"/>
            <a:r>
              <a:rPr lang="en-PH" sz="3600" dirty="0">
                <a:latin typeface="Consolas" panose="020B0609020204030204" pitchFamily="49" charset="0"/>
              </a:rPr>
              <a:t>Identification Division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25A0768-3044-4AA9-A889-D2CAA68C51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605" y="2057400"/>
            <a:ext cx="0" cy="274320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A792A7-BF81-A2CD-955E-77DD69D521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5398" y="1115568"/>
            <a:ext cx="6245352" cy="4626864"/>
          </a:xfrm>
        </p:spPr>
        <p:txBody>
          <a:bodyPr anchor="ctr"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effectLst/>
                <a:latin typeface="Consolas" panose="020B0609020204030204" pitchFamily="49" charset="0"/>
              </a:rPr>
              <a:t>is the first division of a COBOL program, and is mandatory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effectLst/>
                <a:latin typeface="Consolas" panose="020B0609020204030204" pitchFamily="49" charset="0"/>
              </a:rPr>
              <a:t>assigns the program a name and provides other identification information like author, date written and a brief description of the program's purpose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effectLst/>
                <a:latin typeface="Consolas" panose="020B0609020204030204" pitchFamily="49" charset="0"/>
              </a:rPr>
              <a:t>COBOL programs need a PROGRAM-ID paragraph to function within the identification division</a:t>
            </a:r>
            <a:endParaRPr lang="en-PH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90767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A6C2C86-63BF-47D5-AA3F-905111A238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E328AA-C7FC-6459-BEC0-6E30890C81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013" y="1115568"/>
            <a:ext cx="3487616" cy="4626864"/>
          </a:xfrm>
        </p:spPr>
        <p:txBody>
          <a:bodyPr>
            <a:normAutofit/>
          </a:bodyPr>
          <a:lstStyle/>
          <a:p>
            <a:pPr algn="l"/>
            <a:r>
              <a:rPr lang="en-PH" sz="3600" dirty="0">
                <a:latin typeface="Consolas" panose="020B0609020204030204" pitchFamily="49" charset="0"/>
              </a:rPr>
              <a:t>Environment Division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25A0768-3044-4AA9-A889-D2CAA68C51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605" y="2057400"/>
            <a:ext cx="0" cy="274320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BCB219-A672-A368-451B-9CBE8E238F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12635" y="946404"/>
            <a:ext cx="6245352" cy="4965192"/>
          </a:xfrm>
        </p:spPr>
        <p:txBody>
          <a:bodyPr anchor="ctr">
            <a:normAutofit lnSpcReduction="10000"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effectLst/>
                <a:latin typeface="Consolas" panose="020B0609020204030204" pitchFamily="49" charset="0"/>
              </a:rPr>
              <a:t>Specifies the runtime environment for a program and defines the input and output resources it will use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PH" dirty="0">
                <a:effectLst/>
                <a:latin typeface="Consolas" panose="020B0609020204030204" pitchFamily="49" charset="0"/>
              </a:rPr>
              <a:t>Subdivided into two sections:</a:t>
            </a:r>
          </a:p>
          <a:p>
            <a:pPr marL="907200" lvl="1" indent="-457200">
              <a:buFont typeface="+mj-lt"/>
              <a:buAutoNum type="arabicPeriod"/>
            </a:pPr>
            <a:r>
              <a:rPr lang="en-PH" dirty="0">
                <a:effectLst/>
                <a:latin typeface="Consolas" panose="020B0609020204030204" pitchFamily="49" charset="0"/>
              </a:rPr>
              <a:t>Configuration Section (Obsolete)</a:t>
            </a:r>
          </a:p>
          <a:p>
            <a:pPr marL="1213200" lvl="2" indent="-457200">
              <a:buFont typeface="Wingdings" panose="05000000000000000000" pitchFamily="2" charset="2"/>
              <a:buChar char="§"/>
            </a:pPr>
            <a:r>
              <a:rPr lang="en-US" dirty="0">
                <a:effectLst/>
                <a:latin typeface="Consolas" panose="020B0609020204030204" pitchFamily="49" charset="0"/>
              </a:rPr>
              <a:t>provides information about the system configuration, including the computer and compiler features it’s using</a:t>
            </a:r>
            <a:endParaRPr lang="en-PH" dirty="0">
              <a:effectLst/>
              <a:latin typeface="Consolas" panose="020B0609020204030204" pitchFamily="49" charset="0"/>
            </a:endParaRPr>
          </a:p>
          <a:p>
            <a:pPr marL="907200" lvl="1" indent="-457200">
              <a:buFont typeface="+mj-lt"/>
              <a:buAutoNum type="arabicPeriod"/>
            </a:pPr>
            <a:r>
              <a:rPr lang="en-PH" dirty="0">
                <a:effectLst/>
                <a:latin typeface="Consolas" panose="020B0609020204030204" pitchFamily="49" charset="0"/>
              </a:rPr>
              <a:t>Input-Output Section</a:t>
            </a:r>
          </a:p>
          <a:p>
            <a:pPr marL="1213200" lvl="2" indent="-457200">
              <a:buFont typeface="Wingdings" panose="05000000000000000000" pitchFamily="2" charset="2"/>
              <a:buChar char="§"/>
            </a:pPr>
            <a:r>
              <a:rPr lang="en-US" dirty="0">
                <a:effectLst/>
                <a:latin typeface="Consolas" panose="020B0609020204030204" pitchFamily="49" charset="0"/>
              </a:rPr>
              <a:t>specifies the files and associated devices that the program can interact with</a:t>
            </a:r>
          </a:p>
          <a:p>
            <a:pPr marL="1213200" lvl="2" indent="-457200">
              <a:buFont typeface="Wingdings" panose="05000000000000000000" pitchFamily="2" charset="2"/>
              <a:buChar char="§"/>
            </a:pPr>
            <a:r>
              <a:rPr lang="en-US" dirty="0">
                <a:effectLst/>
                <a:latin typeface="Consolas" panose="020B0609020204030204" pitchFamily="49" charset="0"/>
              </a:rPr>
              <a:t>includes the FILE-CONTROL paragraph and the I-O-CONTROL paragraph</a:t>
            </a:r>
          </a:p>
        </p:txBody>
      </p:sp>
    </p:spTree>
    <p:extLst>
      <p:ext uri="{BB962C8B-B14F-4D97-AF65-F5344CB8AC3E}">
        <p14:creationId xmlns:p14="http://schemas.microsoft.com/office/powerpoint/2010/main" val="815710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AF03CE-F2A8-C3D8-FC2B-5B3C17A06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5E12125-FEDF-A471-111F-8AC37CE3F0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54CB5E9-29E6-C6FA-5CA0-BE7A738C1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013" y="1115568"/>
            <a:ext cx="3487616" cy="4626864"/>
          </a:xfrm>
        </p:spPr>
        <p:txBody>
          <a:bodyPr>
            <a:normAutofit/>
          </a:bodyPr>
          <a:lstStyle/>
          <a:p>
            <a:pPr algn="l"/>
            <a:r>
              <a:rPr lang="en-PH" sz="3600" dirty="0">
                <a:latin typeface="Consolas" panose="020B0609020204030204" pitchFamily="49" charset="0"/>
              </a:rPr>
              <a:t>Data</a:t>
            </a:r>
            <a:br>
              <a:rPr lang="en-PH" sz="3600" dirty="0">
                <a:latin typeface="Consolas" panose="020B0609020204030204" pitchFamily="49" charset="0"/>
              </a:rPr>
            </a:br>
            <a:r>
              <a:rPr lang="en-PH" sz="3600" dirty="0">
                <a:latin typeface="Consolas" panose="020B0609020204030204" pitchFamily="49" charset="0"/>
              </a:rPr>
              <a:t>Division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1CDD856-9DA2-88C2-78F6-9BC606C36D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605" y="2057400"/>
            <a:ext cx="0" cy="274320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ECB615-B241-8EC6-BFE9-F919710CE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5398" y="1115568"/>
            <a:ext cx="6245352" cy="4626864"/>
          </a:xfrm>
        </p:spPr>
        <p:txBody>
          <a:bodyPr anchor="ctr">
            <a:normAutofit/>
          </a:bodyPr>
          <a:lstStyle/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effectLst/>
                <a:latin typeface="Consolas" panose="020B0609020204030204" pitchFamily="49" charset="0"/>
              </a:rPr>
              <a:t>Houses all variable, file and constant definitions for the program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effectLst/>
                <a:latin typeface="Consolas" panose="020B0609020204030204" pitchFamily="49" charset="0"/>
              </a:rPr>
              <a:t>Subdivided into four main sections: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dirty="0">
                <a:effectLst/>
                <a:latin typeface="Consolas" panose="020B0609020204030204" pitchFamily="49" charset="0"/>
              </a:rPr>
              <a:t>FILE Section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dirty="0">
                <a:effectLst/>
                <a:latin typeface="Consolas" panose="020B0609020204030204" pitchFamily="49" charset="0"/>
              </a:rPr>
              <a:t>WORKING-STORAGE Section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PH" dirty="0">
                <a:latin typeface="Consolas" panose="020B0609020204030204" pitchFamily="49" charset="0"/>
              </a:rPr>
              <a:t>LOCAL-STORAGE Section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PH" dirty="0">
                <a:latin typeface="Consolas" panose="020B0609020204030204" pitchFamily="49" charset="0"/>
              </a:rPr>
              <a:t>LINKAGE Section</a:t>
            </a:r>
          </a:p>
        </p:txBody>
      </p:sp>
    </p:spTree>
    <p:extLst>
      <p:ext uri="{BB962C8B-B14F-4D97-AF65-F5344CB8AC3E}">
        <p14:creationId xmlns:p14="http://schemas.microsoft.com/office/powerpoint/2010/main" val="6510521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1BF783-0E6B-8F49-C0C8-4E8210E89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FBA2CFB-2CB8-C7D6-CFB0-B33B668EA7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F54E7C1-18D8-6B1A-7A7D-32E4948D34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013" y="1115568"/>
            <a:ext cx="3487616" cy="4626864"/>
          </a:xfrm>
        </p:spPr>
        <p:txBody>
          <a:bodyPr>
            <a:normAutofit/>
          </a:bodyPr>
          <a:lstStyle/>
          <a:p>
            <a:pPr algn="l"/>
            <a:r>
              <a:rPr lang="en-PH" sz="3600" dirty="0">
                <a:latin typeface="Consolas" panose="020B0609020204030204" pitchFamily="49" charset="0"/>
              </a:rPr>
              <a:t>Data</a:t>
            </a:r>
            <a:br>
              <a:rPr lang="en-PH" sz="3600" dirty="0">
                <a:latin typeface="Consolas" panose="020B0609020204030204" pitchFamily="49" charset="0"/>
              </a:rPr>
            </a:br>
            <a:r>
              <a:rPr lang="en-PH" sz="3600" dirty="0">
                <a:latin typeface="Consolas" panose="020B0609020204030204" pitchFamily="49" charset="0"/>
              </a:rPr>
              <a:t>Division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0AD1E75-F79E-7D22-DD88-F7411FFB08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605" y="2057400"/>
            <a:ext cx="0" cy="274320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A146A6-A297-EBF6-55BB-707AD3AEE4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7582" y="969264"/>
            <a:ext cx="6245352" cy="4919472"/>
          </a:xfrm>
        </p:spPr>
        <p:txBody>
          <a:bodyPr anchor="ctr">
            <a:normAutofit lnSpcReduction="10000"/>
          </a:bodyPr>
          <a:lstStyle/>
          <a:p>
            <a:pPr lvl="1">
              <a:buFont typeface="Wingdings" panose="05000000000000000000" pitchFamily="2" charset="2"/>
              <a:buChar char="§"/>
            </a:pPr>
            <a:r>
              <a:rPr lang="en-PH" dirty="0">
                <a:effectLst/>
                <a:latin typeface="Consolas" panose="020B0609020204030204" pitchFamily="49" charset="0"/>
              </a:rPr>
              <a:t>FILE SECTION - </a:t>
            </a:r>
            <a:r>
              <a:rPr lang="en-US" dirty="0">
                <a:effectLst/>
                <a:latin typeface="Consolas" panose="020B0609020204030204" pitchFamily="49" charset="0"/>
              </a:rPr>
              <a:t>lists every file that the program will read from or write 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effectLst/>
                <a:latin typeface="Consolas" panose="020B0609020204030204" pitchFamily="49" charset="0"/>
              </a:rPr>
              <a:t>WORKING-STORAGE SECTION - defines variables that maintain their values throughout the run of the program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effectLst/>
                <a:latin typeface="Consolas" panose="020B0609020204030204" pitchFamily="49" charset="0"/>
              </a:rPr>
              <a:t>LOCAL-STORAGE SECTION - defines variables allocated upon deployment of the program or method and deallocated upon termination; useful for recursive algorithms and reentrant programs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effectLst/>
                <a:latin typeface="Consolas" panose="020B0609020204030204" pitchFamily="49" charset="0"/>
              </a:rPr>
              <a:t>LINKAGE SECTION - defines data items that pass from one program to another</a:t>
            </a:r>
            <a:endParaRPr lang="en-PH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0335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2E1D45-1DA0-E53A-F5DA-7B8365E542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C19C5A8-0D0E-2A43-AAA8-04E5069F6F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CCA2F2-9D78-77F6-9CF9-AC253829DC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013" y="1115568"/>
            <a:ext cx="3487616" cy="4626864"/>
          </a:xfrm>
        </p:spPr>
        <p:txBody>
          <a:bodyPr>
            <a:normAutofit/>
          </a:bodyPr>
          <a:lstStyle/>
          <a:p>
            <a:pPr algn="l"/>
            <a:r>
              <a:rPr lang="en-PH" sz="3600" dirty="0">
                <a:latin typeface="Consolas" panose="020B0609020204030204" pitchFamily="49" charset="0"/>
              </a:rPr>
              <a:t>Procedure</a:t>
            </a:r>
            <a:br>
              <a:rPr lang="en-PH" sz="3600" dirty="0">
                <a:latin typeface="Consolas" panose="020B0609020204030204" pitchFamily="49" charset="0"/>
              </a:rPr>
            </a:br>
            <a:r>
              <a:rPr lang="en-PH" sz="3600" dirty="0">
                <a:latin typeface="Consolas" panose="020B0609020204030204" pitchFamily="49" charset="0"/>
              </a:rPr>
              <a:t>Division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37072E-2D84-1A7D-0ED4-8C17BAE727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605" y="2057400"/>
            <a:ext cx="0" cy="274320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3F6C34-5E24-C118-A90C-D83763A91C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7582" y="969264"/>
            <a:ext cx="6245352" cy="4919472"/>
          </a:xfrm>
        </p:spPr>
        <p:txBody>
          <a:bodyPr anchor="ctr">
            <a:normAutofit/>
          </a:bodyPr>
          <a:lstStyle/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effectLst/>
                <a:latin typeface="Consolas" panose="020B0609020204030204" pitchFamily="49" charset="0"/>
              </a:rPr>
              <a:t>contains the executable code of the program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effectLst/>
                <a:latin typeface="Consolas" panose="020B0609020204030204" pitchFamily="49" charset="0"/>
              </a:rPr>
              <a:t>is divided into paragraphs and sections that structure the code into code blocks for better readability and easier maintenance</a:t>
            </a:r>
            <a:endParaRPr lang="en-PH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67165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6AAB769-9635-4A0E-8861-BB3FE8396E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92C1E7-D38F-04A9-EEF1-C73E06D5A8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299" y="2617381"/>
            <a:ext cx="5441285" cy="162323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400" dirty="0">
                <a:latin typeface="Consolas" panose="020B0609020204030204" pitchFamily="49" charset="0"/>
              </a:rPr>
              <a:t>Variable</a:t>
            </a:r>
            <a:r>
              <a:rPr lang="en-US" sz="3600" dirty="0">
                <a:latin typeface="Consolas" panose="020B0609020204030204" pitchFamily="49" charset="0"/>
              </a:rPr>
              <a:t> </a:t>
            </a:r>
            <a:r>
              <a:rPr lang="en-US" sz="4400" dirty="0">
                <a:latin typeface="Consolas" panose="020B0609020204030204" pitchFamily="49" charset="0"/>
              </a:rPr>
              <a:t>Declaration</a:t>
            </a:r>
            <a:endParaRPr lang="en-US" sz="3600" dirty="0">
              <a:latin typeface="Consolas" panose="020B0609020204030204" pitchFamily="49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BF7BBCC-A085-493E-83D9-01D4F8E889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64" r="2807" b="1446"/>
          <a:stretch/>
        </p:blipFill>
        <p:spPr>
          <a:xfrm>
            <a:off x="-10649" y="1"/>
            <a:ext cx="4690532" cy="6858000"/>
          </a:xfrm>
          <a:prstGeom prst="rect">
            <a:avLst/>
          </a:prstGeom>
        </p:spPr>
      </p:pic>
      <p:pic>
        <p:nvPicPr>
          <p:cNvPr id="5" name="Picture 4" descr="Autoradiogram on white paper">
            <a:extLst>
              <a:ext uri="{FF2B5EF4-FFF2-40B4-BE49-F238E27FC236}">
                <a16:creationId xmlns:a16="http://schemas.microsoft.com/office/drawing/2014/main" id="{7B700904-2DD5-7495-938C-72FD6C8741F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9180" r="20824"/>
          <a:stretch>
            <a:fillRect/>
          </a:stretch>
        </p:blipFill>
        <p:spPr>
          <a:xfrm>
            <a:off x="20" y="10"/>
            <a:ext cx="4679863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874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89D21A-53CE-AAFD-2B70-425F36A55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>
                <a:latin typeface="Consolas" panose="020B0609020204030204" pitchFamily="49" charset="0"/>
              </a:rPr>
              <a:t>Basic Declaration Structure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EC98FB4E-9BA1-1938-FC30-BA55D8F561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7648" y="1866900"/>
            <a:ext cx="8986056" cy="3581400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F5314616-0DD9-9869-FE75-8DB4D879CF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9250" y="2158484"/>
            <a:ext cx="1973629" cy="1146691"/>
          </a:xfrm>
          <a:prstGeom prst="rect">
            <a:avLst/>
          </a:prstGeom>
        </p:spPr>
      </p:pic>
      <p:sp>
        <p:nvSpPr>
          <p:cNvPr id="44" name="Right Brace 43">
            <a:extLst>
              <a:ext uri="{FF2B5EF4-FFF2-40B4-BE49-F238E27FC236}">
                <a16:creationId xmlns:a16="http://schemas.microsoft.com/office/drawing/2014/main" id="{D08D3078-FB33-C0FF-F411-51F19D09B669}"/>
              </a:ext>
            </a:extLst>
          </p:cNvPr>
          <p:cNvSpPr/>
          <p:nvPr/>
        </p:nvSpPr>
        <p:spPr>
          <a:xfrm rot="16200000">
            <a:off x="8744139" y="2605498"/>
            <a:ext cx="137160" cy="1146691"/>
          </a:xfrm>
          <a:prstGeom prst="rightBrac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EE73F37-BF8C-24F2-1707-AD7E2A7C622C}"/>
              </a:ext>
            </a:extLst>
          </p:cNvPr>
          <p:cNvSpPr txBox="1"/>
          <p:nvPr/>
        </p:nvSpPr>
        <p:spPr>
          <a:xfrm>
            <a:off x="7952134" y="2683180"/>
            <a:ext cx="17211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latin typeface="Consolas" panose="020B0609020204030204" pitchFamily="49" charset="0"/>
              </a:rPr>
              <a:t>Value Clause</a:t>
            </a:r>
          </a:p>
        </p:txBody>
      </p:sp>
    </p:spTree>
    <p:extLst>
      <p:ext uri="{BB962C8B-B14F-4D97-AF65-F5344CB8AC3E}">
        <p14:creationId xmlns:p14="http://schemas.microsoft.com/office/powerpoint/2010/main" val="20452227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81A5A9-D302-7ED6-0AE7-480856B08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DFAB7EF-0FF1-1CD8-2585-68AC285991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0040F9E-DB7E-BAAD-0FD1-9F34B1110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013" y="1115568"/>
            <a:ext cx="3487616" cy="4626864"/>
          </a:xfrm>
        </p:spPr>
        <p:txBody>
          <a:bodyPr>
            <a:normAutofit/>
          </a:bodyPr>
          <a:lstStyle/>
          <a:p>
            <a:pPr algn="l"/>
            <a:r>
              <a:rPr lang="en-PH" sz="3600" dirty="0">
                <a:latin typeface="Consolas" panose="020B0609020204030204" pitchFamily="49" charset="0"/>
              </a:rPr>
              <a:t>Level Number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943F67B-2C89-A05F-59D0-50ED39DA47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605" y="2057400"/>
            <a:ext cx="0" cy="274320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A52E1B-B829-4F62-042A-732A4C32CB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7582" y="1444752"/>
            <a:ext cx="6245352" cy="3968496"/>
          </a:xfrm>
        </p:spPr>
        <p:txBody>
          <a:bodyPr anchor="ctr">
            <a:normAutofit/>
          </a:bodyPr>
          <a:lstStyle/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effectLst/>
                <a:latin typeface="Consolas" panose="020B0609020204030204" pitchFamily="49" charset="0"/>
              </a:rPr>
              <a:t>Facilitates hierarchy among variables in the data division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latin typeface="Consolas" panose="020B0609020204030204" pitchFamily="49" charset="0"/>
              </a:rPr>
              <a:t>Level meanings: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dirty="0">
                <a:latin typeface="Consolas" panose="020B0609020204030204" pitchFamily="49" charset="0"/>
              </a:rPr>
              <a:t>01 = Top-level group or record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dirty="0">
                <a:latin typeface="Consolas" panose="020B0609020204030204" pitchFamily="49" charset="0"/>
              </a:rPr>
              <a:t>02-49 = Subordinate items (05 is commonly used)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dirty="0">
                <a:latin typeface="Consolas" panose="020B0609020204030204" pitchFamily="49" charset="0"/>
              </a:rPr>
              <a:t>66 = RENAMES clause (aliasing)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dirty="0">
                <a:latin typeface="Consolas" panose="020B0609020204030204" pitchFamily="49" charset="0"/>
              </a:rPr>
              <a:t>77 = Independent elementary item 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dirty="0">
                <a:latin typeface="Consolas" panose="020B0609020204030204" pitchFamily="49" charset="0"/>
              </a:rPr>
              <a:t>88 = Condition names (like </a:t>
            </a:r>
            <a:r>
              <a:rPr lang="en-US" dirty="0" err="1">
                <a:latin typeface="Consolas" panose="020B0609020204030204" pitchFamily="49" charset="0"/>
              </a:rPr>
              <a:t>boolean</a:t>
            </a:r>
            <a:r>
              <a:rPr lang="en-US" dirty="0">
                <a:latin typeface="Consolas" panose="020B0609020204030204" pitchFamily="49" charset="0"/>
              </a:rPr>
              <a:t> flags)</a:t>
            </a:r>
            <a:endParaRPr lang="en-PH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42811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D87CFA-006F-8680-3418-91951E6F9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06CA506-66A7-9181-18B9-A5A9FC2E56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2C8E4DD-6228-AEE0-B285-9926956EB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013" y="1115568"/>
            <a:ext cx="3487616" cy="4626864"/>
          </a:xfrm>
        </p:spPr>
        <p:txBody>
          <a:bodyPr>
            <a:normAutofit/>
          </a:bodyPr>
          <a:lstStyle/>
          <a:p>
            <a:pPr algn="l"/>
            <a:r>
              <a:rPr lang="en-PH" sz="3600" dirty="0">
                <a:latin typeface="Consolas" panose="020B0609020204030204" pitchFamily="49" charset="0"/>
              </a:rPr>
              <a:t>Defining Data 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E0D179A-0F82-F780-21BA-747FEF5586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605" y="2057400"/>
            <a:ext cx="0" cy="274320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19AD84-6A90-77EB-37FD-DA6C275D4C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7650" y="1040702"/>
            <a:ext cx="6245352" cy="4626864"/>
          </a:xfrm>
        </p:spPr>
        <p:txBody>
          <a:bodyPr anchor="ctr">
            <a:normAutofit/>
          </a:bodyPr>
          <a:lstStyle/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effectLst/>
                <a:latin typeface="Consolas" panose="020B0609020204030204" pitchFamily="49" charset="0"/>
              </a:rPr>
              <a:t>Two main parts of defining data in COBOL: USAGE clauses and PICTURE clauses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effectLst/>
                <a:latin typeface="Consolas" panose="020B0609020204030204" pitchFamily="49" charset="0"/>
              </a:rPr>
              <a:t>PICTURE Clause defines the size, type, and format of your data from a logical/display perspective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effectLst/>
                <a:latin typeface="Consolas" panose="020B0609020204030204" pitchFamily="49" charset="0"/>
              </a:rPr>
              <a:t>USAGE Clause defines how the data is physically stored in memory</a:t>
            </a:r>
          </a:p>
        </p:txBody>
      </p:sp>
    </p:spTree>
    <p:extLst>
      <p:ext uri="{BB962C8B-B14F-4D97-AF65-F5344CB8AC3E}">
        <p14:creationId xmlns:p14="http://schemas.microsoft.com/office/powerpoint/2010/main" val="12555241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A05B93-ED4B-D7E1-224A-F0AA26CC9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A37BD01-EB2C-6A4D-D60E-C079D24D2D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9F8FA5-DAE9-4235-9F59-3774FEC96B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013" y="1115568"/>
            <a:ext cx="3487616" cy="4626864"/>
          </a:xfrm>
        </p:spPr>
        <p:txBody>
          <a:bodyPr>
            <a:normAutofit/>
          </a:bodyPr>
          <a:lstStyle/>
          <a:p>
            <a:pPr algn="l"/>
            <a:r>
              <a:rPr lang="en-PH" sz="3600" dirty="0">
                <a:latin typeface="Consolas" panose="020B0609020204030204" pitchFamily="49" charset="0"/>
              </a:rPr>
              <a:t>PICTURE Clause Options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CEB027B-F974-D7E5-2061-FB75396BAC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605" y="2057400"/>
            <a:ext cx="0" cy="274320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CBF53DF-2B88-6883-C798-7D4B1D3E393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11635380"/>
              </p:ext>
            </p:extLst>
          </p:nvPr>
        </p:nvGraphicFramePr>
        <p:xfrm>
          <a:off x="5155642" y="1996440"/>
          <a:ext cx="6115454" cy="286512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074714">
                  <a:extLst>
                    <a:ext uri="{9D8B030D-6E8A-4147-A177-3AD203B41FA5}">
                      <a16:colId xmlns:a16="http://schemas.microsoft.com/office/drawing/2014/main" val="3319458641"/>
                    </a:ext>
                  </a:extLst>
                </a:gridCol>
                <a:gridCol w="4040740">
                  <a:extLst>
                    <a:ext uri="{9D8B030D-6E8A-4147-A177-3AD203B41FA5}">
                      <a16:colId xmlns:a16="http://schemas.microsoft.com/office/drawing/2014/main" val="36305005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PICTURE Clause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Data Type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7837935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PIC 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Alphabetic character (A-Z, a-z, space)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41344700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PIC 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Numeric character (0-9)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6677192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PIC 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Alphanumeric character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6799869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PIC S9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Signed number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115857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PIC 9(4)V99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V = Implied decimal point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354139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PIC N (2002+)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Unicode character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621605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532573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D561CB-9DF2-EF2E-44DD-6E0296183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E830C26-A5BD-E4B3-3B3E-5696006FF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F94B2F9-F7F5-895F-1A51-4D4CEABB11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013" y="1115568"/>
            <a:ext cx="3487616" cy="4626864"/>
          </a:xfrm>
        </p:spPr>
        <p:txBody>
          <a:bodyPr>
            <a:normAutofit/>
          </a:bodyPr>
          <a:lstStyle/>
          <a:p>
            <a:pPr algn="l"/>
            <a:r>
              <a:rPr lang="en-PH" sz="3600" dirty="0">
                <a:latin typeface="Consolas" panose="020B0609020204030204" pitchFamily="49" charset="0"/>
              </a:rPr>
              <a:t>USAGE Clause Options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EA73000-271F-5735-FE69-E5051A70B9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605" y="2057400"/>
            <a:ext cx="0" cy="274320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B0B6B3B-2E74-EE26-4CAC-A4F0A056BE3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40312257"/>
              </p:ext>
            </p:extLst>
          </p:nvPr>
        </p:nvGraphicFramePr>
        <p:xfrm>
          <a:off x="5155642" y="1778000"/>
          <a:ext cx="6115455" cy="330200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249269">
                  <a:extLst>
                    <a:ext uri="{9D8B030D-6E8A-4147-A177-3AD203B41FA5}">
                      <a16:colId xmlns:a16="http://schemas.microsoft.com/office/drawing/2014/main" val="3319458641"/>
                    </a:ext>
                  </a:extLst>
                </a:gridCol>
                <a:gridCol w="3306017">
                  <a:extLst>
                    <a:ext uri="{9D8B030D-6E8A-4147-A177-3AD203B41FA5}">
                      <a16:colId xmlns:a16="http://schemas.microsoft.com/office/drawing/2014/main" val="3630500583"/>
                    </a:ext>
                  </a:extLst>
                </a:gridCol>
                <a:gridCol w="1560169">
                  <a:extLst>
                    <a:ext uri="{9D8B030D-6E8A-4147-A177-3AD203B41FA5}">
                      <a16:colId xmlns:a16="http://schemas.microsoft.com/office/drawing/2014/main" val="22447717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USAGE Clause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Storage Type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Data Size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7837935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DISPLAY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Character format (ASCII/EBCDIC)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1 byte per </a:t>
                      </a:r>
                    </a:p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character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41344700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BINARY/</a:t>
                      </a:r>
                    </a:p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COMP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Binary integer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2/4/8 bytes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6677192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COMP-1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Single-precision Float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4 bytes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6799869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COMP-2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Double-precision Float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8 bytes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115857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COMP-3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Binary-coded decimal (BCD)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1 byte per 2 digits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41397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162285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5277BB-A91D-FF02-9907-0A3314269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E74438A3-D012-9D4D-4D8C-521EA7157D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1436B5-4882-7501-FD20-4C8645551E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013" y="1115568"/>
            <a:ext cx="3487616" cy="4626864"/>
          </a:xfrm>
        </p:spPr>
        <p:txBody>
          <a:bodyPr>
            <a:normAutofit/>
          </a:bodyPr>
          <a:lstStyle/>
          <a:p>
            <a:pPr algn="l"/>
            <a:r>
              <a:rPr lang="en-PH" sz="3600" dirty="0">
                <a:latin typeface="Consolas" panose="020B0609020204030204" pitchFamily="49" charset="0"/>
              </a:rPr>
              <a:t>USAGE Clause Options (COBOL 2002+)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F15040C-6A05-1121-6EAE-E2D8A014D0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605" y="2057400"/>
            <a:ext cx="0" cy="274320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BEA8E64-2348-C866-CEFA-907C05A4DFD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95786185"/>
              </p:ext>
            </p:extLst>
          </p:nvPr>
        </p:nvGraphicFramePr>
        <p:xfrm>
          <a:off x="5155642" y="1188720"/>
          <a:ext cx="6115455" cy="448056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249269">
                  <a:extLst>
                    <a:ext uri="{9D8B030D-6E8A-4147-A177-3AD203B41FA5}">
                      <a16:colId xmlns:a16="http://schemas.microsoft.com/office/drawing/2014/main" val="3319458641"/>
                    </a:ext>
                  </a:extLst>
                </a:gridCol>
                <a:gridCol w="3306017">
                  <a:extLst>
                    <a:ext uri="{9D8B030D-6E8A-4147-A177-3AD203B41FA5}">
                      <a16:colId xmlns:a16="http://schemas.microsoft.com/office/drawing/2014/main" val="3630500583"/>
                    </a:ext>
                  </a:extLst>
                </a:gridCol>
                <a:gridCol w="1560169">
                  <a:extLst>
                    <a:ext uri="{9D8B030D-6E8A-4147-A177-3AD203B41FA5}">
                      <a16:colId xmlns:a16="http://schemas.microsoft.com/office/drawing/2014/main" val="22447717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USAGE Clause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Data Type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Data Size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7837935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FLOAT-SHORT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IEEE 754 standard floating point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4 bytes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41344700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FLOAT-LONG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IEEE 754 standard floating point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8 bytes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6677192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FLOAT-EXTENDED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IEEE 754 standard floating point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16 bytes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6799869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BINARY-SHORT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Fixed-size binary integer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2 bytes signed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115857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BINARY-LONG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Fixed-size binary integer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4 bytes signed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354139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BINARY-DOUBLE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PH" dirty="0">
                          <a:latin typeface="Consolas" panose="020B0609020204030204" pitchFamily="49" charset="0"/>
                        </a:rPr>
                        <a:t>Fixed-size binary integer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8 bytes signed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2248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8096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14BB6A-09BA-21FF-1626-13637FA94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29EA08D-D319-FF7B-B2A8-596E95E950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AAD5188-45A4-D8EB-FE8D-A557680F77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013" y="1115568"/>
            <a:ext cx="3487616" cy="4626864"/>
          </a:xfrm>
        </p:spPr>
        <p:txBody>
          <a:bodyPr>
            <a:normAutofit/>
          </a:bodyPr>
          <a:lstStyle/>
          <a:p>
            <a:pPr algn="l"/>
            <a:r>
              <a:rPr lang="en-PH" sz="3600" dirty="0">
                <a:latin typeface="Consolas" panose="020B0609020204030204" pitchFamily="49" charset="0"/>
              </a:rPr>
              <a:t>USAGE Clause Options (COBOL 2002+)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463B3B5-8524-CFE4-84E0-8FC9659647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605" y="2057400"/>
            <a:ext cx="0" cy="274320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5066E75-5B12-FE36-5C3C-FB43110FD9C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74270555"/>
              </p:ext>
            </p:extLst>
          </p:nvPr>
        </p:nvGraphicFramePr>
        <p:xfrm>
          <a:off x="5155642" y="1864360"/>
          <a:ext cx="6202339" cy="312928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844772">
                  <a:extLst>
                    <a:ext uri="{9D8B030D-6E8A-4147-A177-3AD203B41FA5}">
                      <a16:colId xmlns:a16="http://schemas.microsoft.com/office/drawing/2014/main" val="3319458641"/>
                    </a:ext>
                  </a:extLst>
                </a:gridCol>
                <a:gridCol w="4357567">
                  <a:extLst>
                    <a:ext uri="{9D8B030D-6E8A-4147-A177-3AD203B41FA5}">
                      <a16:colId xmlns:a16="http://schemas.microsoft.com/office/drawing/2014/main" val="36305005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USAGE Clause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Data Type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7837935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POINTER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Memory addresses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41344700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OBJECT REFERENCE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References to class instances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6677192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NATIONAL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Unicode character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6799869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INDEX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Special data type for indexing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115857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FUNCTION-POINTER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Pointer to a procedure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35413978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PH" dirty="0">
                          <a:latin typeface="Consolas" panose="020B0609020204030204" pitchFamily="49" charset="0"/>
                        </a:rPr>
                        <a:t>TYPEDEF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PH" dirty="0">
                          <a:latin typeface="Consolas" panose="020B0609020204030204" pitchFamily="49" charset="0"/>
                        </a:rPr>
                        <a:t>Reusable type definitions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2248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0060154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DA1309-0719-EC65-E881-425CBC5AE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1D83696-1136-A3DA-C07B-AA47C8BF11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ED61C2-5697-F89A-19B6-2D53AABC68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299" y="2617381"/>
            <a:ext cx="5441285" cy="162323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400" dirty="0">
                <a:latin typeface="Consolas" panose="020B0609020204030204" pitchFamily="49" charset="0"/>
              </a:rPr>
              <a:t>Solution Code (Stack)</a:t>
            </a:r>
            <a:endParaRPr lang="en-US" sz="3600" dirty="0">
              <a:latin typeface="Consolas" panose="020B0609020204030204" pitchFamily="49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7B5A48-97CD-0560-7975-8E704CFF17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64" r="2807" b="1446"/>
          <a:stretch/>
        </p:blipFill>
        <p:spPr>
          <a:xfrm>
            <a:off x="-10649" y="1"/>
            <a:ext cx="4690532" cy="6858000"/>
          </a:xfrm>
          <a:prstGeom prst="rect">
            <a:avLst/>
          </a:prstGeom>
        </p:spPr>
      </p:pic>
      <p:pic>
        <p:nvPicPr>
          <p:cNvPr id="5" name="Picture 4" descr="Autoradiogram on white paper">
            <a:extLst>
              <a:ext uri="{FF2B5EF4-FFF2-40B4-BE49-F238E27FC236}">
                <a16:creationId xmlns:a16="http://schemas.microsoft.com/office/drawing/2014/main" id="{A77B6293-7D6D-CF8E-12EA-B5A45A4D9C8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9180" r="20824"/>
          <a:stretch>
            <a:fillRect/>
          </a:stretch>
        </p:blipFill>
        <p:spPr>
          <a:xfrm>
            <a:off x="20" y="10"/>
            <a:ext cx="4679863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2562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88538F-C221-09B8-FED0-3D0E04601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3816636-423C-9098-AF67-C16648679D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98998BA-2096-B024-FF14-A3A767A27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012" y="1115568"/>
            <a:ext cx="3728843" cy="4626864"/>
          </a:xfrm>
        </p:spPr>
        <p:txBody>
          <a:bodyPr>
            <a:normAutofit/>
          </a:bodyPr>
          <a:lstStyle/>
          <a:p>
            <a:pPr algn="l"/>
            <a:r>
              <a:rPr lang="en-PH" sz="3600" dirty="0">
                <a:latin typeface="Consolas" panose="020B0609020204030204" pitchFamily="49" charset="0"/>
              </a:rPr>
              <a:t>Identification</a:t>
            </a:r>
            <a:br>
              <a:rPr lang="en-PH" sz="3600" dirty="0">
                <a:latin typeface="Consolas" panose="020B0609020204030204" pitchFamily="49" charset="0"/>
              </a:rPr>
            </a:br>
            <a:r>
              <a:rPr lang="en-PH" sz="3600" dirty="0">
                <a:latin typeface="Consolas" panose="020B0609020204030204" pitchFamily="49" charset="0"/>
              </a:rPr>
              <a:t>&amp; Data Division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2657E01-2268-3A64-E0A9-1D3E1D9CB6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605" y="2057400"/>
            <a:ext cx="0" cy="274320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1F08B377-13DC-9BDB-137D-431EC8BC2B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2271" y="1525510"/>
            <a:ext cx="5145825" cy="3806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400904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16EBF8-D199-DB83-C64D-0F7B42859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90BB3D-3166-8BFF-C329-2257AE25F7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819FB0-CD0D-984E-2F1D-B1BA2C3FBB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012" y="1115568"/>
            <a:ext cx="3728843" cy="4626864"/>
          </a:xfrm>
        </p:spPr>
        <p:txBody>
          <a:bodyPr>
            <a:normAutofit/>
          </a:bodyPr>
          <a:lstStyle/>
          <a:p>
            <a:pPr algn="l"/>
            <a:r>
              <a:rPr lang="en-PH" sz="3600" dirty="0">
                <a:latin typeface="Consolas" panose="020B0609020204030204" pitchFamily="49" charset="0"/>
              </a:rPr>
              <a:t>Procedure Division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DA4763A-F5E9-0862-62F2-7F478DC8FE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605" y="2057400"/>
            <a:ext cx="0" cy="274320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AB274652-EE49-38E9-266C-CCA5E78560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9299" y="785443"/>
            <a:ext cx="5068007" cy="5287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82207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F746F3-06AC-0A00-6782-9DDCF4E29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CB282E4-D102-9C29-0064-159AA0AFF8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5AF8AE-D0F2-5257-ACA3-0EF179E573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012" y="1115568"/>
            <a:ext cx="3728843" cy="4626864"/>
          </a:xfrm>
        </p:spPr>
        <p:txBody>
          <a:bodyPr>
            <a:normAutofit/>
          </a:bodyPr>
          <a:lstStyle/>
          <a:p>
            <a:pPr algn="l"/>
            <a:r>
              <a:rPr lang="en-PH" sz="3600" dirty="0">
                <a:latin typeface="Consolas" panose="020B0609020204030204" pitchFamily="49" charset="0"/>
              </a:rPr>
              <a:t>Procedure Division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8F6047E-0BD5-D16B-AD5C-8DEAA1AF43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605" y="2057400"/>
            <a:ext cx="0" cy="274320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AF4EFF52-AAB5-92E4-F30D-F407044D28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604708"/>
            <a:ext cx="4877481" cy="3648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8337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BAFB04-57E1-EE76-10BE-4EE172697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E2076198-FAB9-66A2-FC1E-E309E240E8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964E56C-07EC-A6DE-88E3-B817B7D630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012" y="1115568"/>
            <a:ext cx="3728843" cy="4626864"/>
          </a:xfrm>
        </p:spPr>
        <p:txBody>
          <a:bodyPr>
            <a:normAutofit/>
          </a:bodyPr>
          <a:lstStyle/>
          <a:p>
            <a:pPr algn="l"/>
            <a:r>
              <a:rPr lang="en-PH" sz="3600" dirty="0">
                <a:latin typeface="Consolas" panose="020B0609020204030204" pitchFamily="49" charset="0"/>
              </a:rPr>
              <a:t>Procedure Division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D0BF320-0772-683C-9DFD-35A2CCCC8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605" y="2057400"/>
            <a:ext cx="0" cy="274320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381F1912-0BCF-32F4-79A1-D38DA7D95A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3168" y="704470"/>
            <a:ext cx="4620270" cy="544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18876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A3D3CE-1C19-4CA5-C6A5-E9BF604EC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4A4F554-7D42-CD16-0F16-F739919780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61308CB-D1C5-0A7F-DF8B-73470A4CC0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012" y="1115568"/>
            <a:ext cx="3728843" cy="4626864"/>
          </a:xfrm>
        </p:spPr>
        <p:txBody>
          <a:bodyPr>
            <a:normAutofit/>
          </a:bodyPr>
          <a:lstStyle/>
          <a:p>
            <a:pPr algn="l"/>
            <a:r>
              <a:rPr lang="en-PH" sz="3600" dirty="0">
                <a:latin typeface="Consolas" panose="020B0609020204030204" pitchFamily="49" charset="0"/>
              </a:rPr>
              <a:t>Stack Section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16D5560-4E17-B085-0F0A-A0CE86312A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605" y="2057400"/>
            <a:ext cx="0" cy="274320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463CA98F-8E3A-0518-4810-018702E9EA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1800" y="432969"/>
            <a:ext cx="4163006" cy="5992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244750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08356-A3FF-BA0C-61AC-6BF961742F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800350"/>
            <a:ext cx="10353762" cy="1257300"/>
          </a:xfrm>
        </p:spPr>
        <p:txBody>
          <a:bodyPr>
            <a:normAutofit/>
          </a:bodyPr>
          <a:lstStyle/>
          <a:p>
            <a:r>
              <a:rPr lang="en-PH" dirty="0"/>
              <a:t>End of Presentation</a:t>
            </a:r>
            <a:br>
              <a:rPr lang="en-PH" dirty="0"/>
            </a:br>
            <a:r>
              <a:rPr lang="en-PH" sz="3200" dirty="0"/>
              <a:t>Thank you for listening</a:t>
            </a:r>
            <a:endParaRPr lang="en-PH" dirty="0"/>
          </a:p>
        </p:txBody>
      </p:sp>
    </p:spTree>
    <p:extLst>
      <p:ext uri="{BB962C8B-B14F-4D97-AF65-F5344CB8AC3E}">
        <p14:creationId xmlns:p14="http://schemas.microsoft.com/office/powerpoint/2010/main" val="371853639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VTI">
  <a:themeElements>
    <a:clrScheme name="Custom 35">
      <a:dk1>
        <a:sysClr val="windowText" lastClr="000000"/>
      </a:dk1>
      <a:lt1>
        <a:sysClr val="window" lastClr="FFFFFF"/>
      </a:lt1>
      <a:dk2>
        <a:srgbClr val="4E3B30"/>
      </a:dk2>
      <a:lt2>
        <a:srgbClr val="F4EDD8"/>
      </a:lt2>
      <a:accent1>
        <a:srgbClr val="F0A22E"/>
      </a:accent1>
      <a:accent2>
        <a:srgbClr val="A5644E"/>
      </a:accent2>
      <a:accent3>
        <a:srgbClr val="B58B80"/>
      </a:accent3>
      <a:accent4>
        <a:srgbClr val="C3986D"/>
      </a:accent4>
      <a:accent5>
        <a:srgbClr val="A19574"/>
      </a:accent5>
      <a:accent6>
        <a:srgbClr val="C17529"/>
      </a:accent6>
      <a:hlink>
        <a:srgbClr val="AD1F1F"/>
      </a:hlink>
      <a:folHlink>
        <a:srgbClr val="FFC42F"/>
      </a:folHlink>
    </a:clrScheme>
    <a:fontScheme name="Custom 4">
      <a:majorFont>
        <a:latin typeface="Goudy Old Style"/>
        <a:ea typeface=""/>
        <a:cs typeface=""/>
      </a:majorFont>
      <a:minorFont>
        <a:latin typeface="Goudy Old Style"/>
        <a:ea typeface=""/>
        <a:cs typeface="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VTI" id="{35C4A07C-0176-4A32-9BCB-B016516853F0}" vid="{9B70D35C-BCA8-4715-BB49-8BE54A7FC07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Green">
    <a:dk1>
      <a:sysClr val="windowText" lastClr="000000"/>
    </a:dk1>
    <a:lt1>
      <a:sysClr val="window" lastClr="FFFFFF"/>
    </a:lt1>
    <a:dk2>
      <a:srgbClr val="455F51"/>
    </a:dk2>
    <a:lt2>
      <a:srgbClr val="E3DED1"/>
    </a:lt2>
    <a:accent1>
      <a:srgbClr val="549E39"/>
    </a:accent1>
    <a:accent2>
      <a:srgbClr val="8AB833"/>
    </a:accent2>
    <a:accent3>
      <a:srgbClr val="C0CF3A"/>
    </a:accent3>
    <a:accent4>
      <a:srgbClr val="029676"/>
    </a:accent4>
    <a:accent5>
      <a:srgbClr val="4AB5C4"/>
    </a:accent5>
    <a:accent6>
      <a:srgbClr val="0989B1"/>
    </a:accent6>
    <a:hlink>
      <a:srgbClr val="6B9F25"/>
    </a:hlink>
    <a:folHlink>
      <a:srgbClr val="BA6906"/>
    </a:folHlink>
  </a:clrScheme>
</a:themeOverride>
</file>

<file path=ppt/theme/themeOverride2.xml><?xml version="1.0" encoding="utf-8"?>
<a:themeOverride xmlns:a="http://schemas.openxmlformats.org/drawingml/2006/main">
  <a:clrScheme name="Green">
    <a:dk1>
      <a:sysClr val="windowText" lastClr="000000"/>
    </a:dk1>
    <a:lt1>
      <a:sysClr val="window" lastClr="FFFFFF"/>
    </a:lt1>
    <a:dk2>
      <a:srgbClr val="455F51"/>
    </a:dk2>
    <a:lt2>
      <a:srgbClr val="E3DED1"/>
    </a:lt2>
    <a:accent1>
      <a:srgbClr val="549E39"/>
    </a:accent1>
    <a:accent2>
      <a:srgbClr val="8AB833"/>
    </a:accent2>
    <a:accent3>
      <a:srgbClr val="C0CF3A"/>
    </a:accent3>
    <a:accent4>
      <a:srgbClr val="029676"/>
    </a:accent4>
    <a:accent5>
      <a:srgbClr val="4AB5C4"/>
    </a:accent5>
    <a:accent6>
      <a:srgbClr val="0989B1"/>
    </a:accent6>
    <a:hlink>
      <a:srgbClr val="6B9F25"/>
    </a:hlink>
    <a:folHlink>
      <a:srgbClr val="BA6906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410dd7f93c95333ffa1b60ed6adedd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a936d9baba76aa3866493feff160faab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64B270AB-C138-415C-897E-3C24487DECF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585E981-8C91-4205-A0C3-C991F42B4C9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C4C00F4-06E9-43E3-AD97-88A857CEFA82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Quadratic collection</Template>
  <TotalTime>3174</TotalTime>
  <Words>1272</Words>
  <Application>Microsoft Office PowerPoint</Application>
  <PresentationFormat>Widescreen</PresentationFormat>
  <Paragraphs>233</Paragraphs>
  <Slides>34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0" baseType="lpstr">
      <vt:lpstr>Calibri</vt:lpstr>
      <vt:lpstr>Consolas</vt:lpstr>
      <vt:lpstr>Goudy Old Style</vt:lpstr>
      <vt:lpstr>Wingdings</vt:lpstr>
      <vt:lpstr>Wingdings 2</vt:lpstr>
      <vt:lpstr>SlateVTI</vt:lpstr>
      <vt:lpstr>COBOL:  An Overview</vt:lpstr>
      <vt:lpstr>Contents</vt:lpstr>
      <vt:lpstr>Historical Background</vt:lpstr>
      <vt:lpstr>Historical Background</vt:lpstr>
      <vt:lpstr>Historical Background</vt:lpstr>
      <vt:lpstr>Historical Background</vt:lpstr>
      <vt:lpstr>COBOL Revisions</vt:lpstr>
      <vt:lpstr>COBOL Revisions (Cont.)</vt:lpstr>
      <vt:lpstr>COBOL Revisions (Cont.)</vt:lpstr>
      <vt:lpstr>COBOL Revisions (Cont.)</vt:lpstr>
      <vt:lpstr>COBOL Revisions (Cont.)</vt:lpstr>
      <vt:lpstr>COBOL Revisions (Cont.)</vt:lpstr>
      <vt:lpstr>COBOL Program Structure</vt:lpstr>
      <vt:lpstr>Program Structure</vt:lpstr>
      <vt:lpstr>Identification Division</vt:lpstr>
      <vt:lpstr>Environment Division</vt:lpstr>
      <vt:lpstr>Data Division</vt:lpstr>
      <vt:lpstr>Data Division</vt:lpstr>
      <vt:lpstr>Procedure Division</vt:lpstr>
      <vt:lpstr>Variable Declaration</vt:lpstr>
      <vt:lpstr>Basic Declaration Structure</vt:lpstr>
      <vt:lpstr>Level Number</vt:lpstr>
      <vt:lpstr>Defining Data </vt:lpstr>
      <vt:lpstr>PICTURE Clause Options</vt:lpstr>
      <vt:lpstr>USAGE Clause Options</vt:lpstr>
      <vt:lpstr>USAGE Clause Options (COBOL 2002+)</vt:lpstr>
      <vt:lpstr>USAGE Clause Options (COBOL 2002+)</vt:lpstr>
      <vt:lpstr>Solution Code (Stack)</vt:lpstr>
      <vt:lpstr>Identification &amp; Data Division</vt:lpstr>
      <vt:lpstr>Procedure Division</vt:lpstr>
      <vt:lpstr>Procedure Division</vt:lpstr>
      <vt:lpstr>Procedure Division</vt:lpstr>
      <vt:lpstr>Stack Section</vt:lpstr>
      <vt:lpstr>End of Presentation Thank you for listening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 Jevy Tapdasan</dc:creator>
  <cp:lastModifiedBy>Vince Jevy Tapdasan</cp:lastModifiedBy>
  <cp:revision>22</cp:revision>
  <dcterms:created xsi:type="dcterms:W3CDTF">2025-11-30T11:42:54Z</dcterms:created>
  <dcterms:modified xsi:type="dcterms:W3CDTF">2025-12-06T05:20:25Z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