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10"/>
  </p:notesMasterIdLst>
  <p:sldIdLst>
    <p:sldId id="278" r:id="rId5"/>
    <p:sldId id="279" r:id="rId6"/>
    <p:sldId id="280" r:id="rId7"/>
    <p:sldId id="281" r:id="rId8"/>
    <p:sldId id="28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19" autoAdjust="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01546-198A-4195-BCF8-F0FF54C90E5E}" type="datetimeFigureOut">
              <a:rPr lang="en-US" smtClean="0"/>
              <a:t>11/30/2025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6DE88F-1F85-4A27-9D34-D74A50E7B0D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00918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3AEA074-24A7-4657-AE02-A51F68EA6AA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578475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77348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38747-4367-4BD2-8D51-C97E202738E2}" type="datetime1">
              <a:rPr lang="en-US" smtClean="0"/>
              <a:t>11/30/2025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0746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55A3C-5767-4844-A0A3-83778C2E5409}" type="datetime1">
              <a:rPr lang="en-US" smtClean="0"/>
              <a:t>11/30/2025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48654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763439"/>
            <a:ext cx="9590550" cy="133349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507A8-A5CF-4D38-AB86-7EDDA87A85D4}" type="datetime1">
              <a:rPr lang="en-US" smtClean="0"/>
              <a:t>11/30/2025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6401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618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76450"/>
            <a:ext cx="4856841" cy="362267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0716" y="2076451"/>
            <a:ext cx="4856841" cy="3622672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CD27C-8599-43EF-BA1D-14DDC1946E06}" type="datetime1">
              <a:rPr lang="en-US" smtClean="0"/>
              <a:t>11/30/2025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8205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>
            <a:extLst>
              <a:ext uri="{FF2B5EF4-FFF2-40B4-BE49-F238E27FC236}">
                <a16:creationId xmlns:a16="http://schemas.microsoft.com/office/drawing/2014/main" id="{37B721FF-D609-4D98-9D19-CF75AA8A5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29200" cy="4099959"/>
          </a:xfrm>
          <a:prstGeom prst="rect">
            <a:avLst/>
          </a:prstGeom>
        </p:spPr>
      </p:pic>
      <p:pic>
        <p:nvPicPr>
          <p:cNvPr id="21" name="Picture 20" descr="Slate-V2-HD-compPhotoInset.png">
            <a:extLst>
              <a:ext uri="{FF2B5EF4-FFF2-40B4-BE49-F238E27FC236}">
                <a16:creationId xmlns:a16="http://schemas.microsoft.com/office/drawing/2014/main" id="{073936BD-C868-433F-8E84-D6DD8E640E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357" y="1734506"/>
            <a:ext cx="5029200" cy="409995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6013" y="1855153"/>
            <a:ext cx="4764764" cy="69249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6013" y="2702103"/>
            <a:ext cx="4764764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3166" y="1855152"/>
            <a:ext cx="4779582" cy="692495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3167" y="2702103"/>
            <a:ext cx="4779581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343D99-809A-49C0-96E5-4250D0B498EE}" type="datetime1">
              <a:rPr lang="en-US" smtClean="0"/>
              <a:t>11/30/2025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5120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3DE9B-B678-4EFB-BB7D-A4370204A0B0}" type="datetime1">
              <a:rPr lang="en-US" smtClean="0"/>
              <a:t>11/30/2025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094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812DA-F765-4142-A6A3-A8ED7235E082}" type="datetime1">
              <a:rPr lang="en-US" smtClean="0"/>
              <a:t>11/30/2025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51302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0800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673351"/>
            <a:ext cx="3706889" cy="301625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77FD-7DE6-41D4-930D-AC99F5AFE54E}" type="datetime1">
              <a:rPr lang="en-US" smtClean="0"/>
              <a:t>11/30/2025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3556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>
            <a:extLst>
              <a:ext uri="{FF2B5EF4-FFF2-40B4-BE49-F238E27FC236}">
                <a16:creationId xmlns:a16="http://schemas.microsoft.com/office/drawing/2014/main" id="{4D06E496-ACBA-4063-B4A1-C5C484EE5A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763701"/>
            <a:ext cx="5707899" cy="1675559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3698" y="2679699"/>
            <a:ext cx="4588094" cy="3135695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15526-7079-4B7B-987C-1B5FAE11A0FF}" type="datetime1">
              <a:rPr lang="en-US" smtClean="0"/>
              <a:t>11/30/2025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0567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>
            <a:extLst>
              <a:ext uri="{FF2B5EF4-FFF2-40B4-BE49-F238E27FC236}">
                <a16:creationId xmlns:a16="http://schemas.microsoft.com/office/drawing/2014/main" id="{CE39118B-B3AD-4BD4-BA22-DEFF4E76C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247728"/>
            <a:ext cx="10353762" cy="543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B079-7EF0-44EE-B798-BCC497C9F3B2}" type="datetime1">
              <a:rPr lang="en-US" smtClean="0"/>
              <a:t>11/30/2025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95022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F70A8-1D13-4657-95F0-A9EA54967B8D}" type="datetime1">
              <a:rPr lang="en-US" smtClean="0"/>
              <a:t>11/30/2025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3850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EB90AC-71BD-4C7F-8ACA-7B3F18292E63}" type="datetime1">
              <a:rPr lang="en-US" smtClean="0"/>
              <a:t>11/30/2025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3F0D53-0705-41B7-8554-09D21E7807F9}"/>
              </a:ext>
            </a:extLst>
          </p:cNvPr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F647CD-0F1A-4BB3-89E0-A74F1E1B098D}"/>
              </a:ext>
            </a:extLst>
          </p:cNvPr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752911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EFC2C-8905-46F0-B443-CE905B76BA01}" type="datetime1">
              <a:rPr lang="en-US" smtClean="0"/>
              <a:t>11/30/2025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5092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49"/>
            <a:ext cx="3300984" cy="764783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768110"/>
            <a:ext cx="3300984" cy="302308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79DC3-C9B5-499E-9140-0DC28B7074E2}" type="datetime1">
              <a:rPr lang="en-US" smtClean="0"/>
              <a:t>11/30/2025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26478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>
            <a:extLst>
              <a:ext uri="{FF2B5EF4-FFF2-40B4-BE49-F238E27FC236}">
                <a16:creationId xmlns:a16="http://schemas.microsoft.com/office/drawing/2014/main" id="{7E87C569-D426-4615-ADA7-B370EA9834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>
            <a:extLst>
              <a:ext uri="{FF2B5EF4-FFF2-40B4-BE49-F238E27FC236}">
                <a16:creationId xmlns:a16="http://schemas.microsoft.com/office/drawing/2014/main" id="{7B353ED4-7AD0-46C9-88ED-1A16B1433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>
            <a:extLst>
              <a:ext uri="{FF2B5EF4-FFF2-40B4-BE49-F238E27FC236}">
                <a16:creationId xmlns:a16="http://schemas.microsoft.com/office/drawing/2014/main" id="{F561D985-AD57-459A-B3A6-EBF2960397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572443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B33EA-E472-4D22-9C03-A9C14AA21CED}" type="datetime1">
              <a:rPr lang="en-US" smtClean="0"/>
              <a:t>11/30/2025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32546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573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76450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073ED0CC-082F-4160-86E5-0D6041F12778}" type="datetime1">
              <a:rPr lang="en-US" smtClean="0"/>
              <a:t>11/30/2025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897835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</p:sldLayoutIdLst>
  <p:hf sldNum="0" hdr="0" ftr="0" dt="0"/>
  <p:txStyles>
    <p:titleStyle>
      <a:lvl1pPr algn="ctr" defTabSz="457200" rtl="0" eaLnBrk="1" latinLnBrk="0" hangingPunct="1">
        <a:lnSpc>
          <a:spcPct val="90000"/>
        </a:lnSpc>
        <a:spcBef>
          <a:spcPct val="0"/>
        </a:spcBef>
        <a:buNone/>
        <a:defRPr sz="4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3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21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6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Relationship Id="rId6" Type="http://schemas.openxmlformats.org/officeDocument/2006/relationships/image" Target="../media/image8.png"/><Relationship Id="rId5" Type="http://schemas.openxmlformats.org/officeDocument/2006/relationships/image" Target="../media/image7.jpeg"/><Relationship Id="rId4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8A1C807-B9AD-4C9B-BF9F-60F0342899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" y="10"/>
            <a:ext cx="12192001" cy="6857990"/>
          </a:xfrm>
          <a:prstGeom prst="rect">
            <a:avLst/>
          </a:prstGeom>
        </p:spPr>
      </p:pic>
      <p:sp useBgFill="1">
        <p:nvSpPr>
          <p:cNvPr id="103" name="Freeform 5">
            <a:extLst>
              <a:ext uri="{FF2B5EF4-FFF2-40B4-BE49-F238E27FC236}">
                <a16:creationId xmlns:a16="http://schemas.microsoft.com/office/drawing/2014/main" id="{FE469E50-3893-4ED6-92BA-2985C32B0C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rot="5400000">
            <a:off x="7131809" y="1385982"/>
            <a:ext cx="4031414" cy="4100418"/>
          </a:xfrm>
          <a:custGeom>
            <a:avLst/>
            <a:gdLst>
              <a:gd name="T0" fmla="*/ 1577 w 1601"/>
              <a:gd name="T1" fmla="*/ 0 h 696"/>
              <a:gd name="T2" fmla="*/ 833 w 1601"/>
              <a:gd name="T3" fmla="*/ 0 h 696"/>
              <a:gd name="T4" fmla="*/ 768 w 1601"/>
              <a:gd name="T5" fmla="*/ 0 h 696"/>
              <a:gd name="T6" fmla="*/ 24 w 1601"/>
              <a:gd name="T7" fmla="*/ 0 h 696"/>
              <a:gd name="T8" fmla="*/ 0 w 1601"/>
              <a:gd name="T9" fmla="*/ 27 h 696"/>
              <a:gd name="T10" fmla="*/ 0 w 1601"/>
              <a:gd name="T11" fmla="*/ 669 h 696"/>
              <a:gd name="T12" fmla="*/ 24 w 1601"/>
              <a:gd name="T13" fmla="*/ 696 h 696"/>
              <a:gd name="T14" fmla="*/ 768 w 1601"/>
              <a:gd name="T15" fmla="*/ 696 h 696"/>
              <a:gd name="T16" fmla="*/ 833 w 1601"/>
              <a:gd name="T17" fmla="*/ 696 h 696"/>
              <a:gd name="T18" fmla="*/ 1577 w 1601"/>
              <a:gd name="T19" fmla="*/ 696 h 696"/>
              <a:gd name="T20" fmla="*/ 1601 w 1601"/>
              <a:gd name="T21" fmla="*/ 669 h 696"/>
              <a:gd name="T22" fmla="*/ 1601 w 1601"/>
              <a:gd name="T23" fmla="*/ 27 h 696"/>
              <a:gd name="T24" fmla="*/ 1577 w 1601"/>
              <a:gd name="T25" fmla="*/ 0 h 6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601" h="696">
                <a:moveTo>
                  <a:pt x="1577" y="0"/>
                </a:moveTo>
                <a:cubicBezTo>
                  <a:pt x="833" y="0"/>
                  <a:pt x="833" y="0"/>
                  <a:pt x="833" y="0"/>
                </a:cubicBezTo>
                <a:cubicBezTo>
                  <a:pt x="768" y="0"/>
                  <a:pt x="768" y="0"/>
                  <a:pt x="768" y="0"/>
                </a:cubicBez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2"/>
                  <a:pt x="0" y="27"/>
                </a:cubicBezTo>
                <a:cubicBezTo>
                  <a:pt x="0" y="669"/>
                  <a:pt x="0" y="669"/>
                  <a:pt x="0" y="669"/>
                </a:cubicBezTo>
                <a:cubicBezTo>
                  <a:pt x="0" y="684"/>
                  <a:pt x="11" y="696"/>
                  <a:pt x="24" y="696"/>
                </a:cubicBezTo>
                <a:cubicBezTo>
                  <a:pt x="768" y="696"/>
                  <a:pt x="768" y="696"/>
                  <a:pt x="768" y="696"/>
                </a:cubicBezTo>
                <a:cubicBezTo>
                  <a:pt x="833" y="696"/>
                  <a:pt x="833" y="696"/>
                  <a:pt x="833" y="696"/>
                </a:cubicBezTo>
                <a:cubicBezTo>
                  <a:pt x="1577" y="696"/>
                  <a:pt x="1577" y="696"/>
                  <a:pt x="1577" y="696"/>
                </a:cubicBezTo>
                <a:cubicBezTo>
                  <a:pt x="1590" y="696"/>
                  <a:pt x="1601" y="684"/>
                  <a:pt x="1601" y="669"/>
                </a:cubicBezTo>
                <a:cubicBezTo>
                  <a:pt x="1601" y="27"/>
                  <a:pt x="1601" y="27"/>
                  <a:pt x="1601" y="27"/>
                </a:cubicBezTo>
                <a:cubicBezTo>
                  <a:pt x="1601" y="12"/>
                  <a:pt x="1590" y="0"/>
                  <a:pt x="1577" y="0"/>
                </a:cubicBezTo>
                <a:close/>
              </a:path>
            </a:pathLst>
          </a:custGeom>
          <a:ln>
            <a:noFill/>
          </a:ln>
          <a:effectLst>
            <a:outerShdw blurRad="50800" dist="38100" dir="5400000" algn="tl" rotWithShape="0">
              <a:srgbClr val="000000">
                <a:alpha val="43000"/>
              </a:srgbClr>
            </a:outerShdw>
          </a:effectLst>
          <a:extLst>
            <a:ext uri="{91240B29-F687-4f45-9708-019B960494DF}">
              <a14:hiddenLine xmlns:a16="http://schemas.microsoft.com/office/drawing/2014/main" xmlns:p14="http://schemas.microsoft.com/office/powerpoint/2010/main"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oudy Old Style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1F047C-C727-42A7-85C5-68C5AA1B1A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89962" y="1673524"/>
            <a:ext cx="3485073" cy="2596724"/>
          </a:xfrm>
        </p:spPr>
        <p:txBody>
          <a:bodyPr>
            <a:normAutofit/>
          </a:bodyPr>
          <a:lstStyle/>
          <a:p>
            <a:pPr algn="l"/>
            <a:r>
              <a:rPr lang="en-US" sz="4000" dirty="0"/>
              <a:t>COBOL: </a:t>
            </a:r>
            <a:br>
              <a:rPr lang="en-US" sz="4000" dirty="0"/>
            </a:br>
            <a:r>
              <a:rPr lang="en-US" sz="4000" dirty="0"/>
              <a:t>An Overview</a:t>
            </a:r>
          </a:p>
        </p:txBody>
      </p:sp>
    </p:spTree>
    <p:extLst>
      <p:ext uri="{BB962C8B-B14F-4D97-AF65-F5344CB8AC3E}">
        <p14:creationId xmlns:p14="http://schemas.microsoft.com/office/powerpoint/2010/main" val="41678842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4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5" name="Rectangle 54">
            <a:extLst>
              <a:ext uri="{FF2B5EF4-FFF2-40B4-BE49-F238E27FC236}">
                <a16:creationId xmlns:a16="http://schemas.microsoft.com/office/drawing/2014/main" id="{0EF2A0DA-AE81-4A45-972E-646AC2870C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oudy Old Style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B2D6DE-C9B5-4678-91EF-77E85F2350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-1"/>
          <a:stretch/>
        </p:blipFill>
        <p:spPr>
          <a:xfrm>
            <a:off x="-8622" y="10"/>
            <a:ext cx="6096000" cy="685799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B536FA4E-0152-4E27-91DA-0FC22D184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57026" y="1"/>
            <a:ext cx="5934973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9559F60-4CE1-4E2F-86EA-1B60679F1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00493" y="609600"/>
            <a:ext cx="4538124" cy="970450"/>
          </a:xfrm>
        </p:spPr>
        <p:txBody>
          <a:bodyPr anchor="b">
            <a:normAutofit/>
          </a:bodyPr>
          <a:lstStyle/>
          <a:p>
            <a:pPr algn="l"/>
            <a:r>
              <a:rPr lang="en-US" sz="4000" dirty="0"/>
              <a:t>Contents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F260476B-CCA6-412B-A9C5-399C34AE6F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00493" y="1732449"/>
            <a:ext cx="4403596" cy="4058751"/>
          </a:xfrm>
        </p:spPr>
        <p:txBody>
          <a:bodyPr anchor="t">
            <a:normAutofit/>
          </a:bodyPr>
          <a:lstStyle/>
          <a:p>
            <a:pPr marL="36900" lvl="0" indent="0">
              <a:buNone/>
            </a:pPr>
            <a:r>
              <a:rPr lang="en-US" sz="2400" dirty="0"/>
              <a:t>Historical Background of COBOL</a:t>
            </a:r>
          </a:p>
          <a:p>
            <a:pPr marL="36900" lvl="0" indent="0">
              <a:buNone/>
            </a:pPr>
            <a:r>
              <a:rPr lang="en-US" sz="2400" dirty="0"/>
              <a:t>COBOL Program Structure</a:t>
            </a:r>
          </a:p>
          <a:p>
            <a:pPr marL="36900" lvl="0" indent="0">
              <a:buNone/>
            </a:pPr>
            <a:r>
              <a:rPr lang="en-US" sz="2400" dirty="0"/>
              <a:t>Explanation of Solution Code </a:t>
            </a:r>
          </a:p>
        </p:txBody>
      </p:sp>
    </p:spTree>
    <p:extLst>
      <p:ext uri="{BB962C8B-B14F-4D97-AF65-F5344CB8AC3E}">
        <p14:creationId xmlns:p14="http://schemas.microsoft.com/office/powerpoint/2010/main" val="32202356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5" name="Rectangle 1034">
            <a:extLst>
              <a:ext uri="{FF2B5EF4-FFF2-40B4-BE49-F238E27FC236}">
                <a16:creationId xmlns:a16="http://schemas.microsoft.com/office/drawing/2014/main" id="{0EF2A0DA-AE81-4A45-972E-646AC2870C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The Legacy of Grace Hopper - Stories - Vassar College">
            <a:extLst>
              <a:ext uri="{FF2B5EF4-FFF2-40B4-BE49-F238E27FC236}">
                <a16:creationId xmlns:a16="http://schemas.microsoft.com/office/drawing/2014/main" id="{BB48FEAB-07E7-EA0A-2712-ECC0E697A4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" b="10283"/>
          <a:stretch>
            <a:fillRect/>
          </a:stretch>
        </p:blipFill>
        <p:spPr bwMode="auto">
          <a:xfrm>
            <a:off x="-8622" y="10"/>
            <a:ext cx="6096000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035">
            <a:extLst>
              <a:ext uri="{FF2B5EF4-FFF2-40B4-BE49-F238E27FC236}">
                <a16:creationId xmlns:a16="http://schemas.microsoft.com/office/drawing/2014/main" id="{B536FA4E-0152-4E27-91DA-0FC22D184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4" r="2807" b="1446"/>
          <a:stretch/>
        </p:blipFill>
        <p:spPr>
          <a:xfrm>
            <a:off x="6257026" y="1"/>
            <a:ext cx="5934973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04E8FFA-2B36-BC76-EDE2-508CA4FCA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00493" y="609600"/>
            <a:ext cx="4538124" cy="970450"/>
          </a:xfrm>
        </p:spPr>
        <p:txBody>
          <a:bodyPr anchor="b">
            <a:normAutofit/>
          </a:bodyPr>
          <a:lstStyle/>
          <a:p>
            <a:pPr algn="l"/>
            <a:r>
              <a:rPr lang="en-PH" sz="3200" dirty="0"/>
              <a:t>Historical 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23ED3-87C1-4A6D-86BC-5C050FF980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00492" y="1732449"/>
            <a:ext cx="4538124" cy="4515951"/>
          </a:xfrm>
        </p:spPr>
        <p:txBody>
          <a:bodyPr anchor="t">
            <a:normAutofit/>
          </a:bodyPr>
          <a:lstStyle/>
          <a:p>
            <a:r>
              <a:rPr lang="en-US" sz="1800" dirty="0">
                <a:effectLst/>
              </a:rPr>
              <a:t>COBOL was developed by the Conference on Data Systems Languages (CODASYL), which formed in 1959. </a:t>
            </a:r>
          </a:p>
          <a:p>
            <a:r>
              <a:rPr lang="en-US" sz="1800" dirty="0">
                <a:effectLst/>
              </a:rPr>
              <a:t>Was partly derived from FLOW-MATIC, the first data-processing language to use English-like keywords</a:t>
            </a:r>
          </a:p>
          <a:p>
            <a:r>
              <a:rPr lang="en-US" sz="1800" dirty="0">
                <a:effectLst/>
              </a:rPr>
              <a:t>Created by computer science pioneer Dr. Grace Hopper, COBOL was created as part of a US Department of Defense initiative pushing for a programming language that could work across operating systems and hardware environments.</a:t>
            </a:r>
            <a:endParaRPr lang="en-PH" sz="1800" dirty="0"/>
          </a:p>
        </p:txBody>
      </p:sp>
    </p:spTree>
    <p:extLst>
      <p:ext uri="{BB962C8B-B14F-4D97-AF65-F5344CB8AC3E}">
        <p14:creationId xmlns:p14="http://schemas.microsoft.com/office/powerpoint/2010/main" val="22136185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3ABDC6-9398-F586-E25A-3D0DC7BA7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1" name="Rectangle 1040">
            <a:extLst>
              <a:ext uri="{FF2B5EF4-FFF2-40B4-BE49-F238E27FC236}">
                <a16:creationId xmlns:a16="http://schemas.microsoft.com/office/drawing/2014/main" id="{9A6C2C86-63BF-47D5-AA3F-905111A238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E61CEF-2272-F45C-1EE0-75AF81F7FE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013" y="1115568"/>
            <a:ext cx="3487616" cy="4626864"/>
          </a:xfrm>
        </p:spPr>
        <p:txBody>
          <a:bodyPr>
            <a:normAutofit/>
          </a:bodyPr>
          <a:lstStyle/>
          <a:p>
            <a:pPr algn="l"/>
            <a:r>
              <a:rPr lang="en-PH" sz="3600" dirty="0"/>
              <a:t>Historical Background</a:t>
            </a:r>
          </a:p>
        </p:txBody>
      </p:sp>
      <p:cxnSp>
        <p:nvCxnSpPr>
          <p:cNvPr id="1043" name="Straight Connector 1042">
            <a:extLst>
              <a:ext uri="{FF2B5EF4-FFF2-40B4-BE49-F238E27FC236}">
                <a16:creationId xmlns:a16="http://schemas.microsoft.com/office/drawing/2014/main" id="{425A0768-3044-4AA9-A889-D2CAA68C51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605" y="2057400"/>
            <a:ext cx="0" cy="274320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2516C5-B0F7-44D4-D7CB-60285D7E03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5398" y="1115568"/>
            <a:ext cx="6245352" cy="4626864"/>
          </a:xfrm>
        </p:spPr>
        <p:txBody>
          <a:bodyPr anchor="ctr">
            <a:normAutofit/>
          </a:bodyPr>
          <a:lstStyle/>
          <a:p>
            <a:r>
              <a:rPr lang="en-US" dirty="0">
                <a:effectLst/>
              </a:rPr>
              <a:t>The first version of the COBOL programming language was released in 1960</a:t>
            </a:r>
          </a:p>
          <a:p>
            <a:r>
              <a:rPr lang="en-US" dirty="0">
                <a:effectLst/>
              </a:rPr>
              <a:t>It was ultimately standardized as a computer language in 1968 (ISO/IEC 1989). </a:t>
            </a:r>
          </a:p>
          <a:p>
            <a:r>
              <a:rPr lang="en-US" dirty="0">
                <a:effectLst/>
              </a:rPr>
              <a:t>Implemented several revisions and modernizations, including COBOL-61, COBOL-68, COBOL-74 and COBOL-85</a:t>
            </a:r>
            <a:endParaRPr lang="en-PH" dirty="0"/>
          </a:p>
        </p:txBody>
      </p:sp>
    </p:spTree>
    <p:extLst>
      <p:ext uri="{BB962C8B-B14F-4D97-AF65-F5344CB8AC3E}">
        <p14:creationId xmlns:p14="http://schemas.microsoft.com/office/powerpoint/2010/main" val="750538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584CA6-3EF1-7ED1-4E5F-68D3131A4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1" name="Rectangle 1040">
            <a:extLst>
              <a:ext uri="{FF2B5EF4-FFF2-40B4-BE49-F238E27FC236}">
                <a16:creationId xmlns:a16="http://schemas.microsoft.com/office/drawing/2014/main" id="{9255F579-B5A9-C6BE-764A-ABABEDFEE3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3B899E-72DF-53D9-896F-C7464EEA3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013" y="1115568"/>
            <a:ext cx="3487616" cy="4626864"/>
          </a:xfrm>
        </p:spPr>
        <p:txBody>
          <a:bodyPr>
            <a:normAutofit/>
          </a:bodyPr>
          <a:lstStyle/>
          <a:p>
            <a:pPr algn="l"/>
            <a:r>
              <a:rPr lang="en-PH" sz="3600" dirty="0"/>
              <a:t>Historical Background</a:t>
            </a:r>
          </a:p>
        </p:txBody>
      </p:sp>
      <p:cxnSp>
        <p:nvCxnSpPr>
          <p:cNvPr id="1043" name="Straight Connector 1042">
            <a:extLst>
              <a:ext uri="{FF2B5EF4-FFF2-40B4-BE49-F238E27FC236}">
                <a16:creationId xmlns:a16="http://schemas.microsoft.com/office/drawing/2014/main" id="{B7F59F5B-CC66-ACB6-61CD-1A08DF24DC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605" y="2057400"/>
            <a:ext cx="0" cy="274320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FF1F74-0A65-0F26-6799-A33F48887C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5398" y="1115568"/>
            <a:ext cx="6245352" cy="4626864"/>
          </a:xfrm>
        </p:spPr>
        <p:txBody>
          <a:bodyPr anchor="ctr">
            <a:normAutofit/>
          </a:bodyPr>
          <a:lstStyle/>
          <a:p>
            <a:r>
              <a:rPr lang="en-US" dirty="0">
                <a:effectLst/>
              </a:rPr>
              <a:t>COBOL 2002 aimed to make COBOL applications more compatible with modern software development practices by introducing object-oriented features</a:t>
            </a:r>
          </a:p>
          <a:p>
            <a:r>
              <a:rPr lang="en-US" dirty="0">
                <a:effectLst/>
              </a:rPr>
              <a:t>COBOL 14 introduced new changes, including replacing portable arithmetic results with </a:t>
            </a:r>
            <a:r>
              <a:rPr lang="en-US" u="sng" dirty="0">
                <a:effectLst/>
              </a:rPr>
              <a:t>IEEE 754</a:t>
            </a:r>
            <a:r>
              <a:rPr lang="en-US" dirty="0">
                <a:effectLst/>
              </a:rPr>
              <a:t> data types</a:t>
            </a:r>
          </a:p>
          <a:p>
            <a:r>
              <a:rPr lang="en-US" dirty="0">
                <a:effectLst/>
              </a:rPr>
              <a:t>The latest standard, COBOL 2023, delivered additional new features focused on improving COBOL's interoperability with modern systems</a:t>
            </a:r>
            <a:endParaRPr lang="en-PH" dirty="0"/>
          </a:p>
        </p:txBody>
      </p:sp>
    </p:spTree>
    <p:extLst>
      <p:ext uri="{BB962C8B-B14F-4D97-AF65-F5344CB8AC3E}">
        <p14:creationId xmlns:p14="http://schemas.microsoft.com/office/powerpoint/2010/main" val="253260313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VTI">
  <a:themeElements>
    <a:clrScheme name="Custom 35">
      <a:dk1>
        <a:sysClr val="windowText" lastClr="000000"/>
      </a:dk1>
      <a:lt1>
        <a:sysClr val="window" lastClr="FFFFFF"/>
      </a:lt1>
      <a:dk2>
        <a:srgbClr val="4E3B30"/>
      </a:dk2>
      <a:lt2>
        <a:srgbClr val="F4EDD8"/>
      </a:lt2>
      <a:accent1>
        <a:srgbClr val="F0A22E"/>
      </a:accent1>
      <a:accent2>
        <a:srgbClr val="A5644E"/>
      </a:accent2>
      <a:accent3>
        <a:srgbClr val="B58B80"/>
      </a:accent3>
      <a:accent4>
        <a:srgbClr val="C3986D"/>
      </a:accent4>
      <a:accent5>
        <a:srgbClr val="A19574"/>
      </a:accent5>
      <a:accent6>
        <a:srgbClr val="C17529"/>
      </a:accent6>
      <a:hlink>
        <a:srgbClr val="AD1F1F"/>
      </a:hlink>
      <a:folHlink>
        <a:srgbClr val="FFC42F"/>
      </a:folHlink>
    </a:clrScheme>
    <a:fontScheme name="Custom 4">
      <a:majorFont>
        <a:latin typeface="Goudy Old Style"/>
        <a:ea typeface=""/>
        <a:cs typeface=""/>
      </a:majorFont>
      <a:minorFont>
        <a:latin typeface="Goudy Old Style"/>
        <a:ea typeface=""/>
        <a:cs typeface="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VTI" id="{35C4A07C-0176-4A32-9BCB-B016516853F0}" vid="{9B70D35C-BCA8-4715-BB49-8BE54A7FC07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Green">
    <a:dk1>
      <a:sysClr val="windowText" lastClr="000000"/>
    </a:dk1>
    <a:lt1>
      <a:sysClr val="window" lastClr="FFFFFF"/>
    </a:lt1>
    <a:dk2>
      <a:srgbClr val="455F51"/>
    </a:dk2>
    <a:lt2>
      <a:srgbClr val="E3DED1"/>
    </a:lt2>
    <a:accent1>
      <a:srgbClr val="549E39"/>
    </a:accent1>
    <a:accent2>
      <a:srgbClr val="8AB833"/>
    </a:accent2>
    <a:accent3>
      <a:srgbClr val="C0CF3A"/>
    </a:accent3>
    <a:accent4>
      <a:srgbClr val="029676"/>
    </a:accent4>
    <a:accent5>
      <a:srgbClr val="4AB5C4"/>
    </a:accent5>
    <a:accent6>
      <a:srgbClr val="0989B1"/>
    </a:accent6>
    <a:hlink>
      <a:srgbClr val="6B9F25"/>
    </a:hlink>
    <a:folHlink>
      <a:srgbClr val="BA6906"/>
    </a:folHlink>
  </a:clrScheme>
</a:themeOverride>
</file>

<file path=ppt/theme/themeOverride2.xml><?xml version="1.0" encoding="utf-8"?>
<a:themeOverride xmlns:a="http://schemas.openxmlformats.org/drawingml/2006/main">
  <a:clrScheme name="Green">
    <a:dk1>
      <a:sysClr val="windowText" lastClr="000000"/>
    </a:dk1>
    <a:lt1>
      <a:sysClr val="window" lastClr="FFFFFF"/>
    </a:lt1>
    <a:dk2>
      <a:srgbClr val="455F51"/>
    </a:dk2>
    <a:lt2>
      <a:srgbClr val="E3DED1"/>
    </a:lt2>
    <a:accent1>
      <a:srgbClr val="549E39"/>
    </a:accent1>
    <a:accent2>
      <a:srgbClr val="8AB833"/>
    </a:accent2>
    <a:accent3>
      <a:srgbClr val="C0CF3A"/>
    </a:accent3>
    <a:accent4>
      <a:srgbClr val="029676"/>
    </a:accent4>
    <a:accent5>
      <a:srgbClr val="4AB5C4"/>
    </a:accent5>
    <a:accent6>
      <a:srgbClr val="0989B1"/>
    </a:accent6>
    <a:hlink>
      <a:srgbClr val="6B9F25"/>
    </a:hlink>
    <a:folHlink>
      <a:srgbClr val="BA6906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410dd7f93c95333ffa1b60ed6adedd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a936d9baba76aa3866493feff160faab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4B270AB-C138-415C-897E-3C24487DECF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C4C00F4-06E9-43E3-AD97-88A857CEFA82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0585E981-8C91-4205-A0C3-C991F42B4C9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Quadratic collection</Template>
  <TotalTime>931</TotalTime>
  <Words>188</Words>
  <Application>Microsoft Office PowerPoint</Application>
  <PresentationFormat>Widescreen</PresentationFormat>
  <Paragraphs>18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Goudy Old Style</vt:lpstr>
      <vt:lpstr>Wingdings 2</vt:lpstr>
      <vt:lpstr>SlateVTI</vt:lpstr>
      <vt:lpstr>COBOL:  An Overview</vt:lpstr>
      <vt:lpstr>Contents</vt:lpstr>
      <vt:lpstr>Historical Background</vt:lpstr>
      <vt:lpstr>Historical Background</vt:lpstr>
      <vt:lpstr>Historical Background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 Jevy Tapdasan</dc:creator>
  <cp:lastModifiedBy>Vince Jevy Tapdasan</cp:lastModifiedBy>
  <cp:revision>2</cp:revision>
  <dcterms:created xsi:type="dcterms:W3CDTF">2025-11-30T11:42:54Z</dcterms:created>
  <dcterms:modified xsi:type="dcterms:W3CDTF">2025-12-01T03:14:49Z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